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Roboto Bold" charset="1" panose="02000000000000000000"/>
      <p:regular r:id="rId22"/>
    </p:embeddedFont>
    <p:embeddedFont>
      <p:font typeface="Open Sans Bold" charset="1" panose="020B0806030504020204"/>
      <p:regular r:id="rId23"/>
    </p:embeddedFont>
    <p:embeddedFont>
      <p:font typeface="Open Sans" charset="1" panose="020B0606030504020204"/>
      <p:regular r:id="rId24"/>
    </p:embeddedFont>
    <p:embeddedFont>
      <p:font typeface="Roboto" charset="1" panose="02000000000000000000"/>
      <p:regular r:id="rId25"/>
    </p:embeddedFont>
    <p:embeddedFont>
      <p:font typeface="Roboto Bold Italics" charset="1" panose="02000000000000000000"/>
      <p:regular r:id="rId26"/>
    </p:embeddedFont>
    <p:embeddedFont>
      <p:font typeface="League Spartan" charset="1" panose="000008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10.png" Type="http://schemas.openxmlformats.org/officeDocument/2006/relationships/image"/><Relationship Id="rId6" Target="../media/image9.pn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0.png" Type="http://schemas.openxmlformats.org/officeDocument/2006/relationships/image"/><Relationship Id="rId4"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https://www.zotero.org/google-docs/?rj8UPg" TargetMode="External" Type="http://schemas.openxmlformats.org/officeDocument/2006/relationships/hyperlink"/><Relationship Id="rId11" Target="https://www.zotero.org/google-docs/?rj8UPg" TargetMode="External" Type="http://schemas.openxmlformats.org/officeDocument/2006/relationships/hyperlink"/><Relationship Id="rId12" Target="https://www.zotero.org/google-docs/?rj8UPg" TargetMode="External" Type="http://schemas.openxmlformats.org/officeDocument/2006/relationships/hyperlink"/><Relationship Id="rId2" Target="https://www.zotero.org/google-docs/?apjZHx" TargetMode="External" Type="http://schemas.openxmlformats.org/officeDocument/2006/relationships/hyperlink"/><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 Id="rId9" Target="https://www.zotero.org/google-docs/?g4zCDi"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https://www.zotero.org/google-docs/?rj8UPg" TargetMode="External" Type="http://schemas.openxmlformats.org/officeDocument/2006/relationships/hyperlink"/><Relationship Id="rId8" Target="https://www.zotero.org/google-docs/?rj8UPg" TargetMode="External" Type="http://schemas.openxmlformats.org/officeDocument/2006/relationships/hyperlink"/><Relationship Id="rId9" Target="https://www.zotero.org/google-docs/?rj8UPg"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https://www.zotero.org/google-docs/?lyD5JA" TargetMode="External" Type="http://schemas.openxmlformats.org/officeDocument/2006/relationships/hyperlink"/><Relationship Id="rId6" Target="https://www.zotero.org/google-docs/?t7moAM" TargetMode="External" Type="http://schemas.openxmlformats.org/officeDocument/2006/relationships/hyperlink"/><Relationship Id="rId7" Target="https://www.zotero.org/google-docs/?rj8UPg" TargetMode="External" Type="http://schemas.openxmlformats.org/officeDocument/2006/relationships/hyperlink"/><Relationship Id="rId8" Target="https://www.zotero.org/google-docs/?rj8UPg" TargetMode="External" Type="http://schemas.openxmlformats.org/officeDocument/2006/relationships/hyperlink"/></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 Id="rId7" Target="https://www.zotero.org/google-docs/?rj8UPg" TargetMode="External" Type="http://schemas.openxmlformats.org/officeDocument/2006/relationships/hyperlink"/><Relationship Id="rId8" Target="https://www.zotero.org/google-docs/?rj8UPg" TargetMode="External" Type="http://schemas.openxmlformats.org/officeDocument/2006/relationships/hyperlink"/><Relationship Id="rId9" Target="https://www.zotero.org/google-docs/?rj8UPg" TargetMode="External" Type="http://schemas.openxmlformats.org/officeDocument/2006/relationships/hyperlink"/></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0.png" Type="http://schemas.openxmlformats.org/officeDocument/2006/relationships/image"/><Relationship Id="rId4"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embeddings/oleObject1.bin" Type="http://schemas.openxmlformats.org/officeDocument/2006/relationships/oleObjec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embeddings/oleObject2.bin" Type="http://schemas.openxmlformats.org/officeDocument/2006/relationships/oleObjec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10.png" Type="http://schemas.openxmlformats.org/officeDocument/2006/relationships/image"/><Relationship Id="rId4" Target="../media/image9.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8.png" Type="http://schemas.openxmlformats.org/officeDocument/2006/relationships/image"/><Relationship Id="rId4" Target="../media/image1.png" Type="http://schemas.openxmlformats.org/officeDocument/2006/relationships/image"/><Relationship Id="rId5" Target="../media/image9.png" Type="http://schemas.openxmlformats.org/officeDocument/2006/relationships/image"/><Relationship Id="rId6" Target="../media/image3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png" Type="http://schemas.openxmlformats.org/officeDocument/2006/relationships/image"/><Relationship Id="rId9"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8.png" Type="http://schemas.openxmlformats.org/officeDocument/2006/relationships/image"/><Relationship Id="rId4" Target="../media/image1.png" Type="http://schemas.openxmlformats.org/officeDocument/2006/relationships/image"/><Relationship Id="rId5" Target="../media/image9.png" Type="http://schemas.openxmlformats.org/officeDocument/2006/relationships/image"/><Relationship Id="rId6" Target="../media/image39.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8.png" Type="http://schemas.openxmlformats.org/officeDocument/2006/relationships/image"/><Relationship Id="rId4" Target="../media/image1.png" Type="http://schemas.openxmlformats.org/officeDocument/2006/relationships/image"/><Relationship Id="rId5" Target="../media/image9.png" Type="http://schemas.openxmlformats.org/officeDocument/2006/relationships/image"/><Relationship Id="rId6" Target="../media/image40.pn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8787855" y="7154714"/>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9144000" y="-1074886"/>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3">
              <a:alphaModFix amt="20999"/>
            </a:blip>
            <a:stretch>
              <a:fillRect l="0" t="0" r="0" b="0"/>
            </a:stretch>
          </a:blipFill>
        </p:spPr>
      </p:sp>
      <p:sp>
        <p:nvSpPr>
          <p:cNvPr name="Freeform 4" id="4"/>
          <p:cNvSpPr/>
          <p:nvPr/>
        </p:nvSpPr>
        <p:spPr>
          <a:xfrm flipH="false" flipV="false" rot="0">
            <a:off x="10270078" y="850511"/>
            <a:ext cx="9383236" cy="9436489"/>
          </a:xfrm>
          <a:custGeom>
            <a:avLst/>
            <a:gdLst/>
            <a:ahLst/>
            <a:cxnLst/>
            <a:rect r="r" b="b" t="t" l="l"/>
            <a:pathLst>
              <a:path h="9436489" w="9383236">
                <a:moveTo>
                  <a:pt x="0" y="0"/>
                </a:moveTo>
                <a:lnTo>
                  <a:pt x="9383236" y="0"/>
                </a:lnTo>
                <a:lnTo>
                  <a:pt x="9383236" y="9436489"/>
                </a:lnTo>
                <a:lnTo>
                  <a:pt x="0" y="9436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654495" y="1229822"/>
            <a:ext cx="8614402" cy="8614402"/>
          </a:xfrm>
          <a:custGeom>
            <a:avLst/>
            <a:gdLst/>
            <a:ahLst/>
            <a:cxnLst/>
            <a:rect r="r" b="b" t="t" l="l"/>
            <a:pathLst>
              <a:path h="8614402" w="8614402">
                <a:moveTo>
                  <a:pt x="0" y="0"/>
                </a:moveTo>
                <a:lnTo>
                  <a:pt x="8614402" y="0"/>
                </a:lnTo>
                <a:lnTo>
                  <a:pt x="8614402" y="8614402"/>
                </a:lnTo>
                <a:lnTo>
                  <a:pt x="0" y="8614402"/>
                </a:lnTo>
                <a:lnTo>
                  <a:pt x="0" y="0"/>
                </a:lnTo>
                <a:close/>
              </a:path>
            </a:pathLst>
          </a:custGeom>
          <a:blipFill>
            <a:blip r:embed="rId6"/>
            <a:stretch>
              <a:fillRect l="0" t="0" r="0" b="0"/>
            </a:stretch>
          </a:blipFill>
        </p:spPr>
      </p:sp>
      <p:sp>
        <p:nvSpPr>
          <p:cNvPr name="Freeform 6" id="6"/>
          <p:cNvSpPr/>
          <p:nvPr/>
        </p:nvSpPr>
        <p:spPr>
          <a:xfrm flipH="false" flipV="false" rot="0">
            <a:off x="-1070688" y="7786824"/>
            <a:ext cx="4198776" cy="4114800"/>
          </a:xfrm>
          <a:custGeom>
            <a:avLst/>
            <a:gdLst/>
            <a:ahLst/>
            <a:cxnLst/>
            <a:rect r="r" b="b" t="t" l="l"/>
            <a:pathLst>
              <a:path h="4114800" w="4198776">
                <a:moveTo>
                  <a:pt x="0" y="0"/>
                </a:moveTo>
                <a:lnTo>
                  <a:pt x="4198776" y="0"/>
                </a:lnTo>
                <a:lnTo>
                  <a:pt x="4198776"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3776710" y="-2692577"/>
            <a:ext cx="11065008" cy="8229600"/>
          </a:xfrm>
          <a:custGeom>
            <a:avLst/>
            <a:gdLst/>
            <a:ahLst/>
            <a:cxnLst/>
            <a:rect r="r" b="b" t="t" l="l"/>
            <a:pathLst>
              <a:path h="8229600" w="11065008">
                <a:moveTo>
                  <a:pt x="0" y="0"/>
                </a:moveTo>
                <a:lnTo>
                  <a:pt x="11065009" y="0"/>
                </a:lnTo>
                <a:lnTo>
                  <a:pt x="11065009" y="8229600"/>
                </a:lnTo>
                <a:lnTo>
                  <a:pt x="0" y="8229600"/>
                </a:lnTo>
                <a:lnTo>
                  <a:pt x="0" y="0"/>
                </a:lnTo>
                <a:close/>
              </a:path>
            </a:pathLst>
          </a:custGeom>
          <a:blipFill>
            <a:blip r:embed="rId9">
              <a:alphaModFix amt="20999"/>
            </a:blip>
            <a:stretch>
              <a:fillRect l="0" t="0" r="0" b="0"/>
            </a:stretch>
          </a:blipFill>
        </p:spPr>
      </p:sp>
      <p:sp>
        <p:nvSpPr>
          <p:cNvPr name="Freeform 8" id="8"/>
          <p:cNvSpPr/>
          <p:nvPr/>
        </p:nvSpPr>
        <p:spPr>
          <a:xfrm flipH="true" flipV="false" rot="0">
            <a:off x="0" y="-404666"/>
            <a:ext cx="4120659" cy="4003907"/>
          </a:xfrm>
          <a:custGeom>
            <a:avLst/>
            <a:gdLst/>
            <a:ahLst/>
            <a:cxnLst/>
            <a:rect r="r" b="b" t="t" l="l"/>
            <a:pathLst>
              <a:path h="4003907" w="4120659">
                <a:moveTo>
                  <a:pt x="4120659" y="0"/>
                </a:moveTo>
                <a:lnTo>
                  <a:pt x="0" y="0"/>
                </a:lnTo>
                <a:lnTo>
                  <a:pt x="0" y="4003907"/>
                </a:lnTo>
                <a:lnTo>
                  <a:pt x="4120659" y="4003907"/>
                </a:lnTo>
                <a:lnTo>
                  <a:pt x="4120659" y="0"/>
                </a:lnTo>
                <a:close/>
              </a:path>
            </a:pathLst>
          </a:custGeom>
          <a:blipFill>
            <a:blip r:embed="rId10"/>
            <a:stretch>
              <a:fillRect l="0" t="0" r="0" b="0"/>
            </a:stretch>
          </a:blipFill>
        </p:spPr>
      </p:sp>
      <p:sp>
        <p:nvSpPr>
          <p:cNvPr name="TextBox 9" id="9"/>
          <p:cNvSpPr txBox="true"/>
          <p:nvPr/>
        </p:nvSpPr>
        <p:spPr>
          <a:xfrm rot="0">
            <a:off x="1582538" y="1898473"/>
            <a:ext cx="6447622" cy="1669863"/>
          </a:xfrm>
          <a:prstGeom prst="rect">
            <a:avLst/>
          </a:prstGeom>
        </p:spPr>
        <p:txBody>
          <a:bodyPr anchor="t" rtlCol="false" tIns="0" lIns="0" bIns="0" rIns="0">
            <a:spAutoFit/>
          </a:bodyPr>
          <a:lstStyle/>
          <a:p>
            <a:pPr algn="l">
              <a:lnSpc>
                <a:spcPts val="11872"/>
              </a:lnSpc>
            </a:pPr>
            <a:r>
              <a:rPr lang="en-US" sz="14134" b="true">
                <a:solidFill>
                  <a:srgbClr val="E91C1C"/>
                </a:solidFill>
                <a:latin typeface="Roboto Bold"/>
                <a:ea typeface="Roboto Bold"/>
                <a:cs typeface="Roboto Bold"/>
                <a:sym typeface="Roboto Bold"/>
              </a:rPr>
              <a:t>HITO 1</a:t>
            </a:r>
          </a:p>
        </p:txBody>
      </p:sp>
      <p:grpSp>
        <p:nvGrpSpPr>
          <p:cNvPr name="Group 10" id="10"/>
          <p:cNvGrpSpPr/>
          <p:nvPr/>
        </p:nvGrpSpPr>
        <p:grpSpPr>
          <a:xfrm rot="0">
            <a:off x="1582538" y="3790474"/>
            <a:ext cx="6934124" cy="828593"/>
            <a:chOff x="0" y="0"/>
            <a:chExt cx="1826271" cy="218230"/>
          </a:xfrm>
        </p:grpSpPr>
        <p:sp>
          <p:nvSpPr>
            <p:cNvPr name="Freeform 11" id="11"/>
            <p:cNvSpPr/>
            <p:nvPr/>
          </p:nvSpPr>
          <p:spPr>
            <a:xfrm flipH="false" flipV="false" rot="0">
              <a:off x="0" y="0"/>
              <a:ext cx="1826271" cy="218230"/>
            </a:xfrm>
            <a:custGeom>
              <a:avLst/>
              <a:gdLst/>
              <a:ahLst/>
              <a:cxnLst/>
              <a:rect r="r" b="b" t="t" l="l"/>
              <a:pathLst>
                <a:path h="218230" w="1826271">
                  <a:moveTo>
                    <a:pt x="0" y="0"/>
                  </a:moveTo>
                  <a:lnTo>
                    <a:pt x="1826271" y="0"/>
                  </a:lnTo>
                  <a:lnTo>
                    <a:pt x="1826271" y="218230"/>
                  </a:lnTo>
                  <a:lnTo>
                    <a:pt x="0" y="218230"/>
                  </a:lnTo>
                  <a:close/>
                </a:path>
              </a:pathLst>
            </a:custGeom>
            <a:solidFill>
              <a:srgbClr val="506FA7"/>
            </a:solidFill>
          </p:spPr>
        </p:sp>
        <p:sp>
          <p:nvSpPr>
            <p:cNvPr name="TextBox 12" id="12"/>
            <p:cNvSpPr txBox="true"/>
            <p:nvPr/>
          </p:nvSpPr>
          <p:spPr>
            <a:xfrm>
              <a:off x="0" y="-47625"/>
              <a:ext cx="1826271" cy="265855"/>
            </a:xfrm>
            <a:prstGeom prst="rect">
              <a:avLst/>
            </a:prstGeom>
          </p:spPr>
          <p:txBody>
            <a:bodyPr anchor="ctr" rtlCol="false" tIns="50800" lIns="50800" bIns="50800" rIns="50800"/>
            <a:lstStyle/>
            <a:p>
              <a:pPr algn="ctr">
                <a:lnSpc>
                  <a:spcPts val="2659"/>
                </a:lnSpc>
                <a:spcBef>
                  <a:spcPct val="0"/>
                </a:spcBef>
              </a:pPr>
            </a:p>
          </p:txBody>
        </p:sp>
      </p:grpSp>
      <p:sp>
        <p:nvSpPr>
          <p:cNvPr name="TextBox 13" id="13"/>
          <p:cNvSpPr txBox="true"/>
          <p:nvPr/>
        </p:nvSpPr>
        <p:spPr>
          <a:xfrm rot="0">
            <a:off x="1856400" y="3942874"/>
            <a:ext cx="3166448" cy="586542"/>
          </a:xfrm>
          <a:prstGeom prst="rect">
            <a:avLst/>
          </a:prstGeom>
        </p:spPr>
        <p:txBody>
          <a:bodyPr anchor="t" rtlCol="false" tIns="0" lIns="0" bIns="0" rIns="0">
            <a:spAutoFit/>
          </a:bodyPr>
          <a:lstStyle/>
          <a:p>
            <a:pPr algn="l">
              <a:lnSpc>
                <a:spcPts val="4074"/>
              </a:lnSpc>
            </a:pPr>
            <a:r>
              <a:rPr lang="en-US" sz="4851" b="true">
                <a:solidFill>
                  <a:srgbClr val="F5FCFF"/>
                </a:solidFill>
                <a:latin typeface="Roboto Bold"/>
                <a:ea typeface="Roboto Bold"/>
                <a:cs typeface="Roboto Bold"/>
                <a:sym typeface="Roboto Bold"/>
              </a:rPr>
              <a:t>Integrantes</a:t>
            </a:r>
          </a:p>
        </p:txBody>
      </p:sp>
      <p:sp>
        <p:nvSpPr>
          <p:cNvPr name="TextBox 14" id="14"/>
          <p:cNvSpPr txBox="true"/>
          <p:nvPr/>
        </p:nvSpPr>
        <p:spPr>
          <a:xfrm rot="0">
            <a:off x="3612881" y="8980624"/>
            <a:ext cx="6447622" cy="863600"/>
          </a:xfrm>
          <a:prstGeom prst="rect">
            <a:avLst/>
          </a:prstGeom>
        </p:spPr>
        <p:txBody>
          <a:bodyPr anchor="t" rtlCol="false" tIns="0" lIns="0" bIns="0" rIns="0">
            <a:spAutoFit/>
          </a:bodyPr>
          <a:lstStyle/>
          <a:p>
            <a:pPr algn="ctr">
              <a:lnSpc>
                <a:spcPts val="7000"/>
              </a:lnSpc>
            </a:pPr>
            <a:r>
              <a:rPr lang="en-US" b="true" sz="5000">
                <a:solidFill>
                  <a:srgbClr val="E91C1C"/>
                </a:solidFill>
                <a:latin typeface="Open Sans Bold"/>
                <a:ea typeface="Open Sans Bold"/>
                <a:cs typeface="Open Sans Bold"/>
                <a:sym typeface="Open Sans Bold"/>
              </a:rPr>
              <a:t>GRUPO 1</a:t>
            </a:r>
          </a:p>
        </p:txBody>
      </p:sp>
      <p:sp>
        <p:nvSpPr>
          <p:cNvPr name="TextBox 15" id="15"/>
          <p:cNvSpPr txBox="true"/>
          <p:nvPr/>
        </p:nvSpPr>
        <p:spPr>
          <a:xfrm rot="0">
            <a:off x="1582538" y="4771467"/>
            <a:ext cx="7881622" cy="3483610"/>
          </a:xfrm>
          <a:prstGeom prst="rect">
            <a:avLst/>
          </a:prstGeom>
        </p:spPr>
        <p:txBody>
          <a:bodyPr anchor="t" rtlCol="false" tIns="0" lIns="0" bIns="0" rIns="0">
            <a:spAutoFit/>
          </a:bodyPr>
          <a:lstStyle/>
          <a:p>
            <a:pPr algn="l">
              <a:lnSpc>
                <a:spcPts val="4759"/>
              </a:lnSpc>
            </a:pPr>
            <a:r>
              <a:rPr lang="en-US" sz="3399">
                <a:solidFill>
                  <a:srgbClr val="506FA7"/>
                </a:solidFill>
                <a:latin typeface="Open Sans"/>
                <a:ea typeface="Open Sans"/>
                <a:cs typeface="Open Sans"/>
                <a:sym typeface="Open Sans"/>
              </a:rPr>
              <a:t>Adriano Tassi Romero </a:t>
            </a:r>
          </a:p>
          <a:p>
            <a:pPr algn="l">
              <a:lnSpc>
                <a:spcPts val="4759"/>
              </a:lnSpc>
            </a:pPr>
            <a:r>
              <a:rPr lang="en-US" sz="3399">
                <a:solidFill>
                  <a:srgbClr val="506FA7"/>
                </a:solidFill>
                <a:latin typeface="Open Sans"/>
                <a:ea typeface="Open Sans"/>
                <a:cs typeface="Open Sans"/>
                <a:sym typeface="Open Sans"/>
              </a:rPr>
              <a:t>Alessandro Nicolas Crosby Collantes </a:t>
            </a:r>
          </a:p>
          <a:p>
            <a:pPr algn="l">
              <a:lnSpc>
                <a:spcPts val="4759"/>
              </a:lnSpc>
            </a:pPr>
            <a:r>
              <a:rPr lang="en-US" sz="3399">
                <a:solidFill>
                  <a:srgbClr val="506FA7"/>
                </a:solidFill>
                <a:latin typeface="Open Sans"/>
                <a:ea typeface="Open Sans"/>
                <a:cs typeface="Open Sans"/>
                <a:sym typeface="Open Sans"/>
              </a:rPr>
              <a:t>Camila Andrea Seijas Rojas </a:t>
            </a:r>
          </a:p>
          <a:p>
            <a:pPr algn="l">
              <a:lnSpc>
                <a:spcPts val="4759"/>
              </a:lnSpc>
            </a:pPr>
            <a:r>
              <a:rPr lang="en-US" sz="3399">
                <a:solidFill>
                  <a:srgbClr val="506FA7"/>
                </a:solidFill>
                <a:latin typeface="Open Sans"/>
                <a:ea typeface="Open Sans"/>
                <a:cs typeface="Open Sans"/>
                <a:sym typeface="Open Sans"/>
              </a:rPr>
              <a:t>Fabio Ivan Garcia Soto </a:t>
            </a:r>
          </a:p>
          <a:p>
            <a:pPr algn="l">
              <a:lnSpc>
                <a:spcPts val="4759"/>
              </a:lnSpc>
            </a:pPr>
            <a:r>
              <a:rPr lang="en-US" sz="3399">
                <a:solidFill>
                  <a:srgbClr val="506FA7"/>
                </a:solidFill>
                <a:latin typeface="Open Sans"/>
                <a:ea typeface="Open Sans"/>
                <a:cs typeface="Open Sans"/>
                <a:sym typeface="Open Sans"/>
              </a:rPr>
              <a:t>Xavier Alexis Hernandez Jeronimo </a:t>
            </a:r>
          </a:p>
          <a:p>
            <a:pPr algn="l">
              <a:lnSpc>
                <a:spcPts val="392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8787855" y="7154714"/>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2">
              <a:alphaModFix amt="74000"/>
            </a:blip>
            <a:stretch>
              <a:fillRect l="0" t="0" r="0" b="0"/>
            </a:stretch>
          </a:blipFill>
        </p:spPr>
      </p:sp>
      <p:sp>
        <p:nvSpPr>
          <p:cNvPr name="Freeform 3" id="3"/>
          <p:cNvSpPr/>
          <p:nvPr/>
        </p:nvSpPr>
        <p:spPr>
          <a:xfrm flipH="false" flipV="false" rot="0">
            <a:off x="-3092715" y="6172200"/>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3"/>
            <a:stretch>
              <a:fillRect l="0" t="0" r="0" b="0"/>
            </a:stretch>
          </a:blipFill>
        </p:spPr>
      </p:sp>
      <p:sp>
        <p:nvSpPr>
          <p:cNvPr name="Freeform 4" id="4"/>
          <p:cNvSpPr/>
          <p:nvPr/>
        </p:nvSpPr>
        <p:spPr>
          <a:xfrm flipH="false" flipV="false" rot="0">
            <a:off x="-3776710" y="-2692577"/>
            <a:ext cx="11065008" cy="8229600"/>
          </a:xfrm>
          <a:custGeom>
            <a:avLst/>
            <a:gdLst/>
            <a:ahLst/>
            <a:cxnLst/>
            <a:rect r="r" b="b" t="t" l="l"/>
            <a:pathLst>
              <a:path h="8229600" w="11065008">
                <a:moveTo>
                  <a:pt x="0" y="0"/>
                </a:moveTo>
                <a:lnTo>
                  <a:pt x="11065009" y="0"/>
                </a:lnTo>
                <a:lnTo>
                  <a:pt x="11065009" y="8229600"/>
                </a:lnTo>
                <a:lnTo>
                  <a:pt x="0" y="8229600"/>
                </a:lnTo>
                <a:lnTo>
                  <a:pt x="0" y="0"/>
                </a:lnTo>
                <a:close/>
              </a:path>
            </a:pathLst>
          </a:custGeom>
          <a:blipFill>
            <a:blip r:embed="rId4">
              <a:alphaModFix amt="20999"/>
            </a:blip>
            <a:stretch>
              <a:fillRect l="0" t="0" r="0" b="0"/>
            </a:stretch>
          </a:blipFill>
        </p:spPr>
      </p:sp>
      <p:sp>
        <p:nvSpPr>
          <p:cNvPr name="Freeform 5" id="5"/>
          <p:cNvSpPr/>
          <p:nvPr/>
        </p:nvSpPr>
        <p:spPr>
          <a:xfrm flipH="false" flipV="false" rot="0">
            <a:off x="5379986" y="1028700"/>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2">
              <a:alphaModFix amt="20999"/>
            </a:blip>
            <a:stretch>
              <a:fillRect l="0" t="0" r="0" b="0"/>
            </a:stretch>
          </a:blipFill>
        </p:spPr>
      </p:sp>
      <p:grpSp>
        <p:nvGrpSpPr>
          <p:cNvPr name="Group 6" id="6"/>
          <p:cNvGrpSpPr/>
          <p:nvPr/>
        </p:nvGrpSpPr>
        <p:grpSpPr>
          <a:xfrm rot="0">
            <a:off x="1028700" y="2402417"/>
            <a:ext cx="7961383" cy="6855883"/>
            <a:chOff x="0" y="0"/>
            <a:chExt cx="2096825" cy="1805665"/>
          </a:xfrm>
        </p:grpSpPr>
        <p:sp>
          <p:nvSpPr>
            <p:cNvPr name="Freeform 7" id="7"/>
            <p:cNvSpPr/>
            <p:nvPr/>
          </p:nvSpPr>
          <p:spPr>
            <a:xfrm flipH="false" flipV="false" rot="0">
              <a:off x="0" y="0"/>
              <a:ext cx="2096825" cy="1805665"/>
            </a:xfrm>
            <a:custGeom>
              <a:avLst/>
              <a:gdLst/>
              <a:ahLst/>
              <a:cxnLst/>
              <a:rect r="r" b="b" t="t" l="l"/>
              <a:pathLst>
                <a:path h="1805665" w="2096825">
                  <a:moveTo>
                    <a:pt x="38897" y="0"/>
                  </a:moveTo>
                  <a:lnTo>
                    <a:pt x="2057928" y="0"/>
                  </a:lnTo>
                  <a:cubicBezTo>
                    <a:pt x="2079410" y="0"/>
                    <a:pt x="2096825" y="17415"/>
                    <a:pt x="2096825" y="38897"/>
                  </a:cubicBezTo>
                  <a:lnTo>
                    <a:pt x="2096825" y="1766767"/>
                  </a:lnTo>
                  <a:cubicBezTo>
                    <a:pt x="2096825" y="1788250"/>
                    <a:pt x="2079410" y="1805665"/>
                    <a:pt x="2057928" y="1805665"/>
                  </a:cubicBezTo>
                  <a:lnTo>
                    <a:pt x="38897" y="1805665"/>
                  </a:lnTo>
                  <a:cubicBezTo>
                    <a:pt x="17415" y="1805665"/>
                    <a:pt x="0" y="1788250"/>
                    <a:pt x="0" y="1766767"/>
                  </a:cubicBezTo>
                  <a:lnTo>
                    <a:pt x="0" y="38897"/>
                  </a:lnTo>
                  <a:cubicBezTo>
                    <a:pt x="0" y="17415"/>
                    <a:pt x="17415" y="0"/>
                    <a:pt x="38897" y="0"/>
                  </a:cubicBezTo>
                  <a:close/>
                </a:path>
              </a:pathLst>
            </a:custGeom>
            <a:solidFill>
              <a:srgbClr val="FFFFFF"/>
            </a:solidFill>
            <a:ln w="171450" cap="rnd">
              <a:solidFill>
                <a:srgbClr val="506FA7"/>
              </a:solidFill>
              <a:prstDash val="solid"/>
              <a:round/>
            </a:ln>
          </p:spPr>
        </p:sp>
        <p:sp>
          <p:nvSpPr>
            <p:cNvPr name="TextBox 8" id="8"/>
            <p:cNvSpPr txBox="true"/>
            <p:nvPr/>
          </p:nvSpPr>
          <p:spPr>
            <a:xfrm>
              <a:off x="0" y="-47625"/>
              <a:ext cx="2096825" cy="1853290"/>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3982079" y="1233543"/>
            <a:ext cx="4305921" cy="3622715"/>
          </a:xfrm>
          <a:custGeom>
            <a:avLst/>
            <a:gdLst/>
            <a:ahLst/>
            <a:cxnLst/>
            <a:rect r="r" b="b" t="t" l="l"/>
            <a:pathLst>
              <a:path h="3622715" w="4305921">
                <a:moveTo>
                  <a:pt x="0" y="0"/>
                </a:moveTo>
                <a:lnTo>
                  <a:pt x="4305921" y="0"/>
                </a:lnTo>
                <a:lnTo>
                  <a:pt x="4305921" y="3622715"/>
                </a:lnTo>
                <a:lnTo>
                  <a:pt x="0" y="3622715"/>
                </a:lnTo>
                <a:lnTo>
                  <a:pt x="0" y="0"/>
                </a:lnTo>
                <a:close/>
              </a:path>
            </a:pathLst>
          </a:custGeom>
          <a:blipFill>
            <a:blip r:embed="rId5"/>
            <a:stretch>
              <a:fillRect l="0" t="0" r="0" b="0"/>
            </a:stretch>
          </a:blipFill>
        </p:spPr>
      </p:sp>
      <p:grpSp>
        <p:nvGrpSpPr>
          <p:cNvPr name="Group 10" id="10"/>
          <p:cNvGrpSpPr/>
          <p:nvPr/>
        </p:nvGrpSpPr>
        <p:grpSpPr>
          <a:xfrm rot="0">
            <a:off x="4066771" y="422257"/>
            <a:ext cx="9442167" cy="1622571"/>
            <a:chOff x="0" y="0"/>
            <a:chExt cx="2486826" cy="427344"/>
          </a:xfrm>
        </p:grpSpPr>
        <p:sp>
          <p:nvSpPr>
            <p:cNvPr name="Freeform 11" id="11"/>
            <p:cNvSpPr/>
            <p:nvPr/>
          </p:nvSpPr>
          <p:spPr>
            <a:xfrm flipH="false" flipV="false" rot="0">
              <a:off x="0" y="0"/>
              <a:ext cx="2486826" cy="427344"/>
            </a:xfrm>
            <a:custGeom>
              <a:avLst/>
              <a:gdLst/>
              <a:ahLst/>
              <a:cxnLst/>
              <a:rect r="r" b="b" t="t" l="l"/>
              <a:pathLst>
                <a:path h="427344" w="2486826">
                  <a:moveTo>
                    <a:pt x="32797" y="0"/>
                  </a:moveTo>
                  <a:lnTo>
                    <a:pt x="2454029" y="0"/>
                  </a:lnTo>
                  <a:cubicBezTo>
                    <a:pt x="2462727" y="0"/>
                    <a:pt x="2471069" y="3455"/>
                    <a:pt x="2477220" y="9606"/>
                  </a:cubicBezTo>
                  <a:cubicBezTo>
                    <a:pt x="2483371" y="15757"/>
                    <a:pt x="2486826" y="24099"/>
                    <a:pt x="2486826" y="32797"/>
                  </a:cubicBezTo>
                  <a:lnTo>
                    <a:pt x="2486826" y="394547"/>
                  </a:lnTo>
                  <a:cubicBezTo>
                    <a:pt x="2486826" y="403245"/>
                    <a:pt x="2483371" y="411587"/>
                    <a:pt x="2477220" y="417738"/>
                  </a:cubicBezTo>
                  <a:cubicBezTo>
                    <a:pt x="2471069" y="423888"/>
                    <a:pt x="2462727" y="427344"/>
                    <a:pt x="2454029" y="427344"/>
                  </a:cubicBezTo>
                  <a:lnTo>
                    <a:pt x="32797" y="427344"/>
                  </a:lnTo>
                  <a:cubicBezTo>
                    <a:pt x="24099" y="427344"/>
                    <a:pt x="15757" y="423888"/>
                    <a:pt x="9606" y="417738"/>
                  </a:cubicBezTo>
                  <a:cubicBezTo>
                    <a:pt x="3455" y="411587"/>
                    <a:pt x="0" y="403245"/>
                    <a:pt x="0" y="394547"/>
                  </a:cubicBezTo>
                  <a:lnTo>
                    <a:pt x="0" y="32797"/>
                  </a:lnTo>
                  <a:cubicBezTo>
                    <a:pt x="0" y="24099"/>
                    <a:pt x="3455" y="15757"/>
                    <a:pt x="9606" y="9606"/>
                  </a:cubicBezTo>
                  <a:cubicBezTo>
                    <a:pt x="15757" y="3455"/>
                    <a:pt x="24099" y="0"/>
                    <a:pt x="32797" y="0"/>
                  </a:cubicBezTo>
                  <a:close/>
                </a:path>
              </a:pathLst>
            </a:custGeom>
            <a:solidFill>
              <a:srgbClr val="FFFFFF"/>
            </a:solidFill>
            <a:ln w="171450" cap="rnd">
              <a:solidFill>
                <a:srgbClr val="506FA7"/>
              </a:solidFill>
              <a:prstDash val="solid"/>
              <a:round/>
            </a:ln>
          </p:spPr>
        </p:sp>
        <p:sp>
          <p:nvSpPr>
            <p:cNvPr name="TextBox 12" id="12"/>
            <p:cNvSpPr txBox="true"/>
            <p:nvPr/>
          </p:nvSpPr>
          <p:spPr>
            <a:xfrm>
              <a:off x="0" y="-47625"/>
              <a:ext cx="2486826" cy="474969"/>
            </a:xfrm>
            <a:prstGeom prst="rect">
              <a:avLst/>
            </a:prstGeom>
          </p:spPr>
          <p:txBody>
            <a:bodyPr anchor="ctr" rtlCol="false" tIns="50800" lIns="50800" bIns="50800" rIns="50800"/>
            <a:lstStyle/>
            <a:p>
              <a:pPr algn="ctr">
                <a:lnSpc>
                  <a:spcPts val="2659"/>
                </a:lnSpc>
              </a:pPr>
            </a:p>
          </p:txBody>
        </p:sp>
      </p:grpSp>
      <p:sp>
        <p:nvSpPr>
          <p:cNvPr name="Freeform 13" id="13"/>
          <p:cNvSpPr/>
          <p:nvPr/>
        </p:nvSpPr>
        <p:spPr>
          <a:xfrm flipH="false" flipV="false" rot="0">
            <a:off x="-304535" y="5854288"/>
            <a:ext cx="2060329" cy="2001953"/>
          </a:xfrm>
          <a:custGeom>
            <a:avLst/>
            <a:gdLst/>
            <a:ahLst/>
            <a:cxnLst/>
            <a:rect r="r" b="b" t="t" l="l"/>
            <a:pathLst>
              <a:path h="2001953" w="2060329">
                <a:moveTo>
                  <a:pt x="0" y="0"/>
                </a:moveTo>
                <a:lnTo>
                  <a:pt x="2060330" y="0"/>
                </a:lnTo>
                <a:lnTo>
                  <a:pt x="2060330" y="2001954"/>
                </a:lnTo>
                <a:lnTo>
                  <a:pt x="0" y="2001954"/>
                </a:lnTo>
                <a:lnTo>
                  <a:pt x="0" y="0"/>
                </a:lnTo>
                <a:close/>
              </a:path>
            </a:pathLst>
          </a:custGeom>
          <a:blipFill>
            <a:blip r:embed="rId6"/>
            <a:stretch>
              <a:fillRect l="0" t="0" r="0" b="0"/>
            </a:stretch>
          </a:blipFill>
        </p:spPr>
      </p:sp>
      <p:sp>
        <p:nvSpPr>
          <p:cNvPr name="Freeform 14" id="14"/>
          <p:cNvSpPr/>
          <p:nvPr/>
        </p:nvSpPr>
        <p:spPr>
          <a:xfrm flipH="false" flipV="false" rot="0">
            <a:off x="9998917" y="4471799"/>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5" id="15"/>
          <p:cNvSpPr txBox="true"/>
          <p:nvPr/>
        </p:nvSpPr>
        <p:spPr>
          <a:xfrm rot="0">
            <a:off x="4304490" y="893499"/>
            <a:ext cx="8966729" cy="946786"/>
          </a:xfrm>
          <a:prstGeom prst="rect">
            <a:avLst/>
          </a:prstGeom>
        </p:spPr>
        <p:txBody>
          <a:bodyPr anchor="t" rtlCol="false" tIns="0" lIns="0" bIns="0" rIns="0">
            <a:spAutoFit/>
          </a:bodyPr>
          <a:lstStyle/>
          <a:p>
            <a:pPr algn="ctr">
              <a:lnSpc>
                <a:spcPts val="6720"/>
              </a:lnSpc>
            </a:pPr>
            <a:r>
              <a:rPr lang="en-US" sz="8000" b="true">
                <a:solidFill>
                  <a:srgbClr val="FFD088"/>
                </a:solidFill>
                <a:latin typeface="Roboto Bold"/>
                <a:ea typeface="Roboto Bold"/>
                <a:cs typeface="Roboto Bold"/>
                <a:sym typeface="Roboto Bold"/>
              </a:rPr>
              <a:t>Problemática</a:t>
            </a:r>
          </a:p>
        </p:txBody>
      </p:sp>
      <p:sp>
        <p:nvSpPr>
          <p:cNvPr name="TextBox 16" id="16"/>
          <p:cNvSpPr txBox="true"/>
          <p:nvPr/>
        </p:nvSpPr>
        <p:spPr>
          <a:xfrm rot="0">
            <a:off x="1094585" y="2809342"/>
            <a:ext cx="7146581" cy="6425920"/>
          </a:xfrm>
          <a:prstGeom prst="rect">
            <a:avLst/>
          </a:prstGeom>
        </p:spPr>
        <p:txBody>
          <a:bodyPr anchor="t" rtlCol="false" tIns="0" lIns="0" bIns="0" rIns="0">
            <a:spAutoFit/>
          </a:bodyPr>
          <a:lstStyle/>
          <a:p>
            <a:pPr algn="ctr" marL="739860" indent="-369930" lvl="1">
              <a:lnSpc>
                <a:spcPts val="4694"/>
              </a:lnSpc>
              <a:buFont typeface="Arial"/>
              <a:buChar char="•"/>
            </a:pPr>
            <a:r>
              <a:rPr lang="en-US" sz="3426">
                <a:solidFill>
                  <a:srgbClr val="000000"/>
                </a:solidFill>
                <a:latin typeface="Roboto"/>
                <a:ea typeface="Roboto"/>
                <a:cs typeface="Roboto"/>
                <a:sym typeface="Roboto"/>
              </a:rPr>
              <a:t>Dificultad en la prevención de retinopatía diabética en zonas rurales o de bajos recursos.</a:t>
            </a:r>
          </a:p>
          <a:p>
            <a:pPr algn="ctr">
              <a:lnSpc>
                <a:spcPts val="4694"/>
              </a:lnSpc>
            </a:pPr>
          </a:p>
          <a:p>
            <a:pPr algn="ctr" marL="739860" indent="-369930" lvl="1">
              <a:lnSpc>
                <a:spcPts val="4694"/>
              </a:lnSpc>
              <a:buFont typeface="Arial"/>
              <a:buChar char="•"/>
            </a:pPr>
            <a:r>
              <a:rPr lang="en-US" sz="3426">
                <a:solidFill>
                  <a:srgbClr val="000000"/>
                </a:solidFill>
                <a:latin typeface="Roboto"/>
                <a:ea typeface="Roboto"/>
                <a:cs typeface="Roboto"/>
                <a:sym typeface="Roboto"/>
              </a:rPr>
              <a:t>Falta de herramientas acce</a:t>
            </a:r>
            <a:r>
              <a:rPr lang="en-US" sz="3426">
                <a:solidFill>
                  <a:srgbClr val="000000"/>
                </a:solidFill>
                <a:latin typeface="Roboto"/>
                <a:ea typeface="Roboto"/>
                <a:cs typeface="Roboto"/>
                <a:sym typeface="Roboto"/>
              </a:rPr>
              <a:t>sibles y automatizadas que permitan a médicos no especialistas realizar un presunto diagnóstico preventivo de retinopatía diabética.</a:t>
            </a:r>
          </a:p>
          <a:p>
            <a:pPr algn="ctr">
              <a:lnSpc>
                <a:spcPts val="4694"/>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3092715" y="6172200"/>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4863531" y="221509"/>
            <a:ext cx="4305921" cy="3622715"/>
          </a:xfrm>
          <a:custGeom>
            <a:avLst/>
            <a:gdLst/>
            <a:ahLst/>
            <a:cxnLst/>
            <a:rect r="r" b="b" t="t" l="l"/>
            <a:pathLst>
              <a:path h="3622715" w="4305921">
                <a:moveTo>
                  <a:pt x="0" y="0"/>
                </a:moveTo>
                <a:lnTo>
                  <a:pt x="4305921" y="0"/>
                </a:lnTo>
                <a:lnTo>
                  <a:pt x="4305921" y="3622715"/>
                </a:lnTo>
                <a:lnTo>
                  <a:pt x="0" y="3622715"/>
                </a:lnTo>
                <a:lnTo>
                  <a:pt x="0" y="0"/>
                </a:lnTo>
                <a:close/>
              </a:path>
            </a:pathLst>
          </a:custGeom>
          <a:blipFill>
            <a:blip r:embed="rId3"/>
            <a:stretch>
              <a:fillRect l="0" t="0" r="0" b="0"/>
            </a:stretch>
          </a:blipFill>
        </p:spPr>
      </p:sp>
      <p:grpSp>
        <p:nvGrpSpPr>
          <p:cNvPr name="Group 4" id="4"/>
          <p:cNvGrpSpPr/>
          <p:nvPr/>
        </p:nvGrpSpPr>
        <p:grpSpPr>
          <a:xfrm rot="0">
            <a:off x="3424469" y="4160638"/>
            <a:ext cx="11439061" cy="1965723"/>
            <a:chOff x="0" y="0"/>
            <a:chExt cx="2486826" cy="427344"/>
          </a:xfrm>
        </p:grpSpPr>
        <p:sp>
          <p:nvSpPr>
            <p:cNvPr name="Freeform 5" id="5"/>
            <p:cNvSpPr/>
            <p:nvPr/>
          </p:nvSpPr>
          <p:spPr>
            <a:xfrm flipH="false" flipV="false" rot="0">
              <a:off x="0" y="0"/>
              <a:ext cx="2486826" cy="427344"/>
            </a:xfrm>
            <a:custGeom>
              <a:avLst/>
              <a:gdLst/>
              <a:ahLst/>
              <a:cxnLst/>
              <a:rect r="r" b="b" t="t" l="l"/>
              <a:pathLst>
                <a:path h="427344" w="2486826">
                  <a:moveTo>
                    <a:pt x="27072" y="0"/>
                  </a:moveTo>
                  <a:lnTo>
                    <a:pt x="2459754" y="0"/>
                  </a:lnTo>
                  <a:cubicBezTo>
                    <a:pt x="2466934" y="0"/>
                    <a:pt x="2473820" y="2852"/>
                    <a:pt x="2478897" y="7929"/>
                  </a:cubicBezTo>
                  <a:cubicBezTo>
                    <a:pt x="2483974" y="13006"/>
                    <a:pt x="2486826" y="19892"/>
                    <a:pt x="2486826" y="27072"/>
                  </a:cubicBezTo>
                  <a:lnTo>
                    <a:pt x="2486826" y="400272"/>
                  </a:lnTo>
                  <a:cubicBezTo>
                    <a:pt x="2486826" y="407452"/>
                    <a:pt x="2483974" y="414338"/>
                    <a:pt x="2478897" y="419415"/>
                  </a:cubicBezTo>
                  <a:cubicBezTo>
                    <a:pt x="2473820" y="424492"/>
                    <a:pt x="2466934" y="427344"/>
                    <a:pt x="2459754" y="427344"/>
                  </a:cubicBezTo>
                  <a:lnTo>
                    <a:pt x="27072" y="427344"/>
                  </a:lnTo>
                  <a:cubicBezTo>
                    <a:pt x="19892" y="427344"/>
                    <a:pt x="13006" y="424492"/>
                    <a:pt x="7929" y="419415"/>
                  </a:cubicBezTo>
                  <a:cubicBezTo>
                    <a:pt x="2852" y="414338"/>
                    <a:pt x="0" y="407452"/>
                    <a:pt x="0" y="400272"/>
                  </a:cubicBezTo>
                  <a:lnTo>
                    <a:pt x="0" y="27072"/>
                  </a:lnTo>
                  <a:cubicBezTo>
                    <a:pt x="0" y="19892"/>
                    <a:pt x="2852" y="13006"/>
                    <a:pt x="7929" y="7929"/>
                  </a:cubicBezTo>
                  <a:cubicBezTo>
                    <a:pt x="13006" y="2852"/>
                    <a:pt x="19892" y="0"/>
                    <a:pt x="27072" y="0"/>
                  </a:cubicBezTo>
                  <a:close/>
                </a:path>
              </a:pathLst>
            </a:custGeom>
            <a:solidFill>
              <a:srgbClr val="FFFFFF"/>
            </a:solidFill>
            <a:ln w="171450" cap="rnd">
              <a:solidFill>
                <a:srgbClr val="506FA7"/>
              </a:solidFill>
              <a:prstDash val="solid"/>
              <a:round/>
            </a:ln>
          </p:spPr>
        </p:sp>
        <p:sp>
          <p:nvSpPr>
            <p:cNvPr name="TextBox 6" id="6"/>
            <p:cNvSpPr txBox="true"/>
            <p:nvPr/>
          </p:nvSpPr>
          <p:spPr>
            <a:xfrm>
              <a:off x="0" y="-47625"/>
              <a:ext cx="2486826" cy="47496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6700192">
            <a:off x="-1573595" y="200347"/>
            <a:ext cx="4120659" cy="4003907"/>
          </a:xfrm>
          <a:custGeom>
            <a:avLst/>
            <a:gdLst/>
            <a:ahLst/>
            <a:cxnLst/>
            <a:rect r="r" b="b" t="t" l="l"/>
            <a:pathLst>
              <a:path h="4003907" w="4120659">
                <a:moveTo>
                  <a:pt x="0" y="0"/>
                </a:moveTo>
                <a:lnTo>
                  <a:pt x="4120659" y="0"/>
                </a:lnTo>
                <a:lnTo>
                  <a:pt x="4120659" y="4003907"/>
                </a:lnTo>
                <a:lnTo>
                  <a:pt x="0" y="4003907"/>
                </a:lnTo>
                <a:lnTo>
                  <a:pt x="0" y="0"/>
                </a:lnTo>
                <a:close/>
              </a:path>
            </a:pathLst>
          </a:custGeom>
          <a:blipFill>
            <a:blip r:embed="rId4"/>
            <a:stretch>
              <a:fillRect l="0" t="0" r="0" b="0"/>
            </a:stretch>
          </a:blipFill>
        </p:spPr>
      </p:sp>
      <p:sp>
        <p:nvSpPr>
          <p:cNvPr name="TextBox 8" id="8"/>
          <p:cNvSpPr txBox="true"/>
          <p:nvPr/>
        </p:nvSpPr>
        <p:spPr>
          <a:xfrm rot="0">
            <a:off x="3712463" y="4722764"/>
            <a:ext cx="10863074" cy="1155797"/>
          </a:xfrm>
          <a:prstGeom prst="rect">
            <a:avLst/>
          </a:prstGeom>
        </p:spPr>
        <p:txBody>
          <a:bodyPr anchor="t" rtlCol="false" tIns="0" lIns="0" bIns="0" rIns="0">
            <a:spAutoFit/>
          </a:bodyPr>
          <a:lstStyle/>
          <a:p>
            <a:pPr algn="ctr">
              <a:lnSpc>
                <a:spcPts val="8141"/>
              </a:lnSpc>
            </a:pPr>
            <a:r>
              <a:rPr lang="en-US" sz="9691" b="true">
                <a:solidFill>
                  <a:srgbClr val="FFD088"/>
                </a:solidFill>
                <a:latin typeface="Roboto Bold"/>
                <a:ea typeface="Roboto Bold"/>
                <a:cs typeface="Roboto Bold"/>
                <a:sym typeface="Roboto Bold"/>
              </a:rPr>
              <a:t>Estado del Arte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TextBox 2" id="2"/>
          <p:cNvSpPr txBox="true"/>
          <p:nvPr/>
        </p:nvSpPr>
        <p:spPr>
          <a:xfrm rot="0">
            <a:off x="1379816" y="981075"/>
            <a:ext cx="6058509" cy="666115"/>
          </a:xfrm>
          <a:prstGeom prst="rect">
            <a:avLst/>
          </a:prstGeom>
        </p:spPr>
        <p:txBody>
          <a:bodyPr anchor="t" rtlCol="false" tIns="0" lIns="0" bIns="0" rIns="0">
            <a:spAutoFit/>
          </a:bodyPr>
          <a:lstStyle/>
          <a:p>
            <a:pPr algn="ctr">
              <a:lnSpc>
                <a:spcPts val="2659"/>
              </a:lnSpc>
              <a:spcBef>
                <a:spcPct val="0"/>
              </a:spcBef>
            </a:pPr>
            <a:r>
              <a:rPr lang="en-US" b="true" sz="1899" i="true">
                <a:solidFill>
                  <a:srgbClr val="000000"/>
                </a:solidFill>
                <a:latin typeface="Roboto Bold Italics"/>
                <a:ea typeface="Roboto Bold Italics"/>
                <a:cs typeface="Roboto Bold Italics"/>
                <a:sym typeface="Roboto Bold Italics"/>
              </a:rPr>
              <a:t>Indirect ophthalmoscopic stereo video system using three-dimensional LCD </a:t>
            </a:r>
            <a:r>
              <a:rPr lang="en-US" b="true" sz="1899" i="true" u="sng">
                <a:solidFill>
                  <a:srgbClr val="000000"/>
                </a:solidFill>
                <a:latin typeface="Roboto Bold Italics"/>
                <a:ea typeface="Roboto Bold Italics"/>
                <a:cs typeface="Roboto Bold Italics"/>
                <a:sym typeface="Roboto Bold Italics"/>
                <a:hlinkClick r:id="rId2" tooltip="https://www.zotero.org/google-docs/?apjZHx"/>
              </a:rPr>
              <a:t>[1]</a:t>
            </a:r>
          </a:p>
        </p:txBody>
      </p:sp>
      <p:grpSp>
        <p:nvGrpSpPr>
          <p:cNvPr name="Group 3" id="3"/>
          <p:cNvGrpSpPr/>
          <p:nvPr/>
        </p:nvGrpSpPr>
        <p:grpSpPr>
          <a:xfrm rot="0">
            <a:off x="851308" y="1824881"/>
            <a:ext cx="7115524" cy="2712699"/>
            <a:chOff x="0" y="0"/>
            <a:chExt cx="9487365" cy="3616933"/>
          </a:xfrm>
        </p:grpSpPr>
        <p:sp>
          <p:nvSpPr>
            <p:cNvPr name="Freeform 4" id="4"/>
            <p:cNvSpPr/>
            <p:nvPr/>
          </p:nvSpPr>
          <p:spPr>
            <a:xfrm flipH="false" flipV="false" rot="0">
              <a:off x="4775785" y="0"/>
              <a:ext cx="4711580" cy="3358573"/>
            </a:xfrm>
            <a:custGeom>
              <a:avLst/>
              <a:gdLst/>
              <a:ahLst/>
              <a:cxnLst/>
              <a:rect r="r" b="b" t="t" l="l"/>
              <a:pathLst>
                <a:path h="3358573" w="4711580">
                  <a:moveTo>
                    <a:pt x="0" y="0"/>
                  </a:moveTo>
                  <a:lnTo>
                    <a:pt x="4711580" y="0"/>
                  </a:lnTo>
                  <a:lnTo>
                    <a:pt x="4711580" y="3358573"/>
                  </a:lnTo>
                  <a:lnTo>
                    <a:pt x="0" y="3358573"/>
                  </a:lnTo>
                  <a:lnTo>
                    <a:pt x="0" y="0"/>
                  </a:lnTo>
                  <a:close/>
                </a:path>
              </a:pathLst>
            </a:custGeom>
            <a:blipFill>
              <a:blip r:embed="rId3"/>
              <a:stretch>
                <a:fillRect l="0" t="0" r="0" b="0"/>
              </a:stretch>
            </a:blipFill>
          </p:spPr>
        </p:sp>
        <p:sp>
          <p:nvSpPr>
            <p:cNvPr name="Freeform 5" id="5"/>
            <p:cNvSpPr/>
            <p:nvPr/>
          </p:nvSpPr>
          <p:spPr>
            <a:xfrm flipH="false" flipV="false" rot="0">
              <a:off x="236523" y="0"/>
              <a:ext cx="3992195" cy="3361102"/>
            </a:xfrm>
            <a:custGeom>
              <a:avLst/>
              <a:gdLst/>
              <a:ahLst/>
              <a:cxnLst/>
              <a:rect r="r" b="b" t="t" l="l"/>
              <a:pathLst>
                <a:path h="3361102" w="3992195">
                  <a:moveTo>
                    <a:pt x="0" y="0"/>
                  </a:moveTo>
                  <a:lnTo>
                    <a:pt x="3992195" y="0"/>
                  </a:lnTo>
                  <a:lnTo>
                    <a:pt x="3992195" y="3361102"/>
                  </a:lnTo>
                  <a:lnTo>
                    <a:pt x="0" y="3361102"/>
                  </a:lnTo>
                  <a:lnTo>
                    <a:pt x="0" y="0"/>
                  </a:lnTo>
                  <a:close/>
                </a:path>
              </a:pathLst>
            </a:custGeom>
            <a:blipFill>
              <a:blip r:embed="rId4"/>
              <a:stretch>
                <a:fillRect l="0" t="0" r="0" b="0"/>
              </a:stretch>
            </a:blipFill>
          </p:spPr>
        </p:sp>
        <p:sp>
          <p:nvSpPr>
            <p:cNvPr name="TextBox 6" id="6"/>
            <p:cNvSpPr txBox="true"/>
            <p:nvPr/>
          </p:nvSpPr>
          <p:spPr>
            <a:xfrm rot="0">
              <a:off x="0" y="3425163"/>
              <a:ext cx="4465241" cy="191770"/>
            </a:xfrm>
            <a:prstGeom prst="rect">
              <a:avLst/>
            </a:prstGeom>
          </p:spPr>
          <p:txBody>
            <a:bodyPr anchor="t" rtlCol="false" tIns="0" lIns="0" bIns="0" rIns="0">
              <a:spAutoFit/>
            </a:bodyPr>
            <a:lstStyle/>
            <a:p>
              <a:pPr algn="ctr">
                <a:lnSpc>
                  <a:spcPts val="1260"/>
                </a:lnSpc>
                <a:spcBef>
                  <a:spcPct val="0"/>
                </a:spcBef>
              </a:pPr>
              <a:r>
                <a:rPr lang="en-US" sz="900">
                  <a:solidFill>
                    <a:srgbClr val="000000"/>
                  </a:solidFill>
                  <a:latin typeface="Roboto"/>
                  <a:ea typeface="Roboto"/>
                  <a:cs typeface="Roboto"/>
                  <a:sym typeface="Roboto"/>
                </a:rPr>
                <a:t>Fig. 1. Video camera unit: schematic representations of the BIO [1]</a:t>
              </a:r>
            </a:p>
          </p:txBody>
        </p:sp>
      </p:grpSp>
      <p:sp>
        <p:nvSpPr>
          <p:cNvPr name="TextBox 7" id="7"/>
          <p:cNvSpPr txBox="true"/>
          <p:nvPr/>
        </p:nvSpPr>
        <p:spPr>
          <a:xfrm rot="0">
            <a:off x="5101638" y="4388991"/>
            <a:ext cx="2196703" cy="148590"/>
          </a:xfrm>
          <a:prstGeom prst="rect">
            <a:avLst/>
          </a:prstGeom>
        </p:spPr>
        <p:txBody>
          <a:bodyPr anchor="t" rtlCol="false" tIns="0" lIns="0" bIns="0" rIns="0">
            <a:spAutoFit/>
          </a:bodyPr>
          <a:lstStyle/>
          <a:p>
            <a:pPr algn="ctr">
              <a:lnSpc>
                <a:spcPts val="1260"/>
              </a:lnSpc>
              <a:spcBef>
                <a:spcPct val="0"/>
              </a:spcBef>
            </a:pPr>
            <a:r>
              <a:rPr lang="en-US" sz="900">
                <a:solidFill>
                  <a:srgbClr val="000000"/>
                </a:solidFill>
                <a:latin typeface="Roboto"/>
                <a:ea typeface="Roboto"/>
                <a:cs typeface="Roboto"/>
                <a:sym typeface="Roboto"/>
              </a:rPr>
              <a:t>Fig. 2. Test of an artificial eye-ball model [1]</a:t>
            </a:r>
          </a:p>
        </p:txBody>
      </p:sp>
      <p:grpSp>
        <p:nvGrpSpPr>
          <p:cNvPr name="Group 8" id="8"/>
          <p:cNvGrpSpPr/>
          <p:nvPr/>
        </p:nvGrpSpPr>
        <p:grpSpPr>
          <a:xfrm rot="0">
            <a:off x="4124494" y="5875458"/>
            <a:ext cx="9275202" cy="3625098"/>
            <a:chOff x="0" y="0"/>
            <a:chExt cx="12366936" cy="4833464"/>
          </a:xfrm>
        </p:grpSpPr>
        <p:sp>
          <p:nvSpPr>
            <p:cNvPr name="Freeform 9" id="9"/>
            <p:cNvSpPr/>
            <p:nvPr/>
          </p:nvSpPr>
          <p:spPr>
            <a:xfrm flipH="false" flipV="false" rot="0">
              <a:off x="424999" y="0"/>
              <a:ext cx="5144324" cy="4165444"/>
            </a:xfrm>
            <a:custGeom>
              <a:avLst/>
              <a:gdLst/>
              <a:ahLst/>
              <a:cxnLst/>
              <a:rect r="r" b="b" t="t" l="l"/>
              <a:pathLst>
                <a:path h="4165444" w="5144324">
                  <a:moveTo>
                    <a:pt x="0" y="0"/>
                  </a:moveTo>
                  <a:lnTo>
                    <a:pt x="5144323" y="0"/>
                  </a:lnTo>
                  <a:lnTo>
                    <a:pt x="5144323" y="4165444"/>
                  </a:lnTo>
                  <a:lnTo>
                    <a:pt x="0" y="4165444"/>
                  </a:lnTo>
                  <a:lnTo>
                    <a:pt x="0" y="0"/>
                  </a:lnTo>
                  <a:close/>
                </a:path>
              </a:pathLst>
            </a:custGeom>
            <a:blipFill>
              <a:blip r:embed="rId5"/>
              <a:stretch>
                <a:fillRect l="0" t="0" r="0" b="0"/>
              </a:stretch>
            </a:blipFill>
          </p:spPr>
        </p:sp>
        <p:sp>
          <p:nvSpPr>
            <p:cNvPr name="Freeform 10" id="10"/>
            <p:cNvSpPr/>
            <p:nvPr/>
          </p:nvSpPr>
          <p:spPr>
            <a:xfrm flipH="false" flipV="false" rot="0">
              <a:off x="6935440" y="0"/>
              <a:ext cx="4733460" cy="4165444"/>
            </a:xfrm>
            <a:custGeom>
              <a:avLst/>
              <a:gdLst/>
              <a:ahLst/>
              <a:cxnLst/>
              <a:rect r="r" b="b" t="t" l="l"/>
              <a:pathLst>
                <a:path h="4165444" w="4733460">
                  <a:moveTo>
                    <a:pt x="0" y="0"/>
                  </a:moveTo>
                  <a:lnTo>
                    <a:pt x="4733460" y="0"/>
                  </a:lnTo>
                  <a:lnTo>
                    <a:pt x="4733460" y="4165444"/>
                  </a:lnTo>
                  <a:lnTo>
                    <a:pt x="0" y="4165444"/>
                  </a:lnTo>
                  <a:lnTo>
                    <a:pt x="0" y="0"/>
                  </a:lnTo>
                  <a:close/>
                </a:path>
              </a:pathLst>
            </a:custGeom>
            <a:blipFill>
              <a:blip r:embed="rId6"/>
              <a:stretch>
                <a:fillRect l="0" t="0" r="0" b="0"/>
              </a:stretch>
            </a:blipFill>
          </p:spPr>
        </p:sp>
        <p:sp>
          <p:nvSpPr>
            <p:cNvPr name="TextBox 11" id="11"/>
            <p:cNvSpPr txBox="true"/>
            <p:nvPr/>
          </p:nvSpPr>
          <p:spPr>
            <a:xfrm rot="0">
              <a:off x="0" y="4235294"/>
              <a:ext cx="5994321" cy="598170"/>
            </a:xfrm>
            <a:prstGeom prst="rect">
              <a:avLst/>
            </a:prstGeom>
          </p:spPr>
          <p:txBody>
            <a:bodyPr anchor="t" rtlCol="false" tIns="0" lIns="0" bIns="0" rIns="0">
              <a:spAutoFit/>
            </a:bodyPr>
            <a:lstStyle/>
            <a:p>
              <a:pPr algn="ctr">
                <a:lnSpc>
                  <a:spcPts val="1260"/>
                </a:lnSpc>
                <a:spcBef>
                  <a:spcPct val="0"/>
                </a:spcBef>
              </a:pPr>
              <a:r>
                <a:rPr lang="en-US" sz="900">
                  <a:solidFill>
                    <a:srgbClr val="000000"/>
                  </a:solidFill>
                  <a:latin typeface="Roboto"/>
                  <a:ea typeface="Roboto"/>
                  <a:cs typeface="Roboto"/>
                  <a:sym typeface="Roboto"/>
                </a:rPr>
                <a:t>Fig. 5. Esquema del trayecto óptico de un oftalmoscopio binocular indirecto, mostrando la lente condensadora, los espejos reflectores centrales y laterales, y los oculares que conducen los haces desde el ojo observado hacia los ojos del examinador [3]</a:t>
              </a:r>
            </a:p>
          </p:txBody>
        </p:sp>
        <p:sp>
          <p:nvSpPr>
            <p:cNvPr name="TextBox 12" id="12"/>
            <p:cNvSpPr txBox="true"/>
            <p:nvPr/>
          </p:nvSpPr>
          <p:spPr>
            <a:xfrm rot="0">
              <a:off x="6237404" y="4235294"/>
              <a:ext cx="6129531" cy="394970"/>
            </a:xfrm>
            <a:prstGeom prst="rect">
              <a:avLst/>
            </a:prstGeom>
          </p:spPr>
          <p:txBody>
            <a:bodyPr anchor="t" rtlCol="false" tIns="0" lIns="0" bIns="0" rIns="0">
              <a:spAutoFit/>
            </a:bodyPr>
            <a:lstStyle/>
            <a:p>
              <a:pPr algn="ctr">
                <a:lnSpc>
                  <a:spcPts val="1260"/>
                </a:lnSpc>
                <a:spcBef>
                  <a:spcPct val="0"/>
                </a:spcBef>
              </a:pPr>
              <a:r>
                <a:rPr lang="en-US" sz="900">
                  <a:solidFill>
                    <a:srgbClr val="000000"/>
                  </a:solidFill>
                  <a:latin typeface="Roboto"/>
                  <a:ea typeface="Roboto"/>
                  <a:cs typeface="Roboto"/>
                  <a:sym typeface="Roboto"/>
                </a:rPr>
                <a:t>Fig. 6. Representación del sistema óptico binocular mediante prismas y espejos, utilizado para separar y redirigir los haces hacia la distancia interpupilar del examinador. [3]</a:t>
              </a:r>
            </a:p>
          </p:txBody>
        </p:sp>
      </p:grpSp>
      <p:grpSp>
        <p:nvGrpSpPr>
          <p:cNvPr name="Group 13" id="13"/>
          <p:cNvGrpSpPr/>
          <p:nvPr/>
        </p:nvGrpSpPr>
        <p:grpSpPr>
          <a:xfrm rot="0">
            <a:off x="9192612" y="1824881"/>
            <a:ext cx="7985000" cy="3017499"/>
            <a:chOff x="0" y="0"/>
            <a:chExt cx="10646667" cy="4023332"/>
          </a:xfrm>
        </p:grpSpPr>
        <p:sp>
          <p:nvSpPr>
            <p:cNvPr name="Freeform 14" id="14"/>
            <p:cNvSpPr/>
            <p:nvPr/>
          </p:nvSpPr>
          <p:spPr>
            <a:xfrm flipH="false" flipV="false" rot="0">
              <a:off x="0" y="0"/>
              <a:ext cx="4539089" cy="3361102"/>
            </a:xfrm>
            <a:custGeom>
              <a:avLst/>
              <a:gdLst/>
              <a:ahLst/>
              <a:cxnLst/>
              <a:rect r="r" b="b" t="t" l="l"/>
              <a:pathLst>
                <a:path h="3361102" w="4539089">
                  <a:moveTo>
                    <a:pt x="0" y="0"/>
                  </a:moveTo>
                  <a:lnTo>
                    <a:pt x="4539089" y="0"/>
                  </a:lnTo>
                  <a:lnTo>
                    <a:pt x="4539089" y="3361102"/>
                  </a:lnTo>
                  <a:lnTo>
                    <a:pt x="0" y="3361102"/>
                  </a:lnTo>
                  <a:lnTo>
                    <a:pt x="0" y="0"/>
                  </a:lnTo>
                  <a:close/>
                </a:path>
              </a:pathLst>
            </a:custGeom>
            <a:blipFill>
              <a:blip r:embed="rId7"/>
              <a:stretch>
                <a:fillRect l="0" t="0" r="0" b="0"/>
              </a:stretch>
            </a:blipFill>
          </p:spPr>
        </p:sp>
        <p:sp>
          <p:nvSpPr>
            <p:cNvPr name="Freeform 15" id="15"/>
            <p:cNvSpPr/>
            <p:nvPr/>
          </p:nvSpPr>
          <p:spPr>
            <a:xfrm flipH="false" flipV="false" rot="0">
              <a:off x="5355050" y="0"/>
              <a:ext cx="5291618" cy="3358573"/>
            </a:xfrm>
            <a:custGeom>
              <a:avLst/>
              <a:gdLst/>
              <a:ahLst/>
              <a:cxnLst/>
              <a:rect r="r" b="b" t="t" l="l"/>
              <a:pathLst>
                <a:path h="3358573" w="5291618">
                  <a:moveTo>
                    <a:pt x="0" y="0"/>
                  </a:moveTo>
                  <a:lnTo>
                    <a:pt x="5291617" y="0"/>
                  </a:lnTo>
                  <a:lnTo>
                    <a:pt x="5291617" y="3358573"/>
                  </a:lnTo>
                  <a:lnTo>
                    <a:pt x="0" y="3358573"/>
                  </a:lnTo>
                  <a:lnTo>
                    <a:pt x="0" y="0"/>
                  </a:lnTo>
                  <a:close/>
                </a:path>
              </a:pathLst>
            </a:custGeom>
            <a:blipFill>
              <a:blip r:embed="rId8"/>
              <a:stretch>
                <a:fillRect l="0" t="0" r="0" b="0"/>
              </a:stretch>
            </a:blipFill>
          </p:spPr>
        </p:sp>
        <p:sp>
          <p:nvSpPr>
            <p:cNvPr name="TextBox 16" id="16"/>
            <p:cNvSpPr txBox="true"/>
            <p:nvPr/>
          </p:nvSpPr>
          <p:spPr>
            <a:xfrm rot="0">
              <a:off x="85729" y="3425163"/>
              <a:ext cx="4367631" cy="598169"/>
            </a:xfrm>
            <a:prstGeom prst="rect">
              <a:avLst/>
            </a:prstGeom>
          </p:spPr>
          <p:txBody>
            <a:bodyPr anchor="t" rtlCol="false" tIns="0" lIns="0" bIns="0" rIns="0">
              <a:spAutoFit/>
            </a:bodyPr>
            <a:lstStyle/>
            <a:p>
              <a:pPr algn="ctr">
                <a:lnSpc>
                  <a:spcPts val="1260"/>
                </a:lnSpc>
                <a:spcBef>
                  <a:spcPct val="0"/>
                </a:spcBef>
              </a:pPr>
              <a:r>
                <a:rPr lang="en-US" sz="900">
                  <a:solidFill>
                    <a:srgbClr val="000000"/>
                  </a:solidFill>
                  <a:latin typeface="Roboto"/>
                  <a:ea typeface="Roboto"/>
                  <a:cs typeface="Roboto"/>
                  <a:sym typeface="Roboto"/>
                </a:rPr>
                <a:t>Fig. 3. Smartphone fundus camera: (a) componentes desarmados, (b) soporte ensamblado, (c) dispositivo instalado en el teléfono inteligente y (d) imagen de la retina capturada [2]</a:t>
              </a:r>
            </a:p>
          </p:txBody>
        </p:sp>
        <p:sp>
          <p:nvSpPr>
            <p:cNvPr name="TextBox 17" id="17"/>
            <p:cNvSpPr txBox="true"/>
            <p:nvPr/>
          </p:nvSpPr>
          <p:spPr>
            <a:xfrm rot="0">
              <a:off x="6604156" y="3425163"/>
              <a:ext cx="2793405" cy="191770"/>
            </a:xfrm>
            <a:prstGeom prst="rect">
              <a:avLst/>
            </a:prstGeom>
          </p:spPr>
          <p:txBody>
            <a:bodyPr anchor="t" rtlCol="false" tIns="0" lIns="0" bIns="0" rIns="0">
              <a:spAutoFit/>
            </a:bodyPr>
            <a:lstStyle/>
            <a:p>
              <a:pPr algn="ctr">
                <a:lnSpc>
                  <a:spcPts val="1260"/>
                </a:lnSpc>
                <a:spcBef>
                  <a:spcPct val="0"/>
                </a:spcBef>
              </a:pPr>
              <a:r>
                <a:rPr lang="en-US" sz="900">
                  <a:solidFill>
                    <a:srgbClr val="000000"/>
                  </a:solidFill>
                  <a:latin typeface="Roboto"/>
                  <a:ea typeface="Roboto"/>
                  <a:cs typeface="Roboto"/>
                  <a:sym typeface="Roboto"/>
                </a:rPr>
                <a:t>Fig. 4. Overview of the App application [2]</a:t>
              </a:r>
            </a:p>
          </p:txBody>
        </p:sp>
      </p:grpSp>
      <p:sp>
        <p:nvSpPr>
          <p:cNvPr name="TextBox 18" id="18"/>
          <p:cNvSpPr txBox="true"/>
          <p:nvPr/>
        </p:nvSpPr>
        <p:spPr>
          <a:xfrm rot="0">
            <a:off x="10155858" y="981075"/>
            <a:ext cx="6058509" cy="666115"/>
          </a:xfrm>
          <a:prstGeom prst="rect">
            <a:avLst/>
          </a:prstGeom>
        </p:spPr>
        <p:txBody>
          <a:bodyPr anchor="t" rtlCol="false" tIns="0" lIns="0" bIns="0" rIns="0">
            <a:spAutoFit/>
          </a:bodyPr>
          <a:lstStyle/>
          <a:p>
            <a:pPr algn="ctr">
              <a:lnSpc>
                <a:spcPts val="2659"/>
              </a:lnSpc>
              <a:spcBef>
                <a:spcPct val="0"/>
              </a:spcBef>
            </a:pPr>
            <a:r>
              <a:rPr lang="en-US" b="true" sz="1899" i="true">
                <a:solidFill>
                  <a:srgbClr val="000000"/>
                </a:solidFill>
                <a:latin typeface="Roboto Bold Italics"/>
                <a:ea typeface="Roboto Bold Italics"/>
                <a:cs typeface="Roboto Bold Italics"/>
                <a:sym typeface="Roboto Bold Italics"/>
              </a:rPr>
              <a:t>A Mob</a:t>
            </a:r>
            <a:r>
              <a:rPr lang="en-US" b="true" sz="1899" i="true">
                <a:solidFill>
                  <a:srgbClr val="000000"/>
                </a:solidFill>
                <a:latin typeface="Roboto Bold Italics"/>
                <a:ea typeface="Roboto Bold Italics"/>
                <a:cs typeface="Roboto Bold Italics"/>
                <a:sym typeface="Roboto Bold Italics"/>
              </a:rPr>
              <a:t>ile App for Glaucoma Diagnosis and Its Possible Clinical Applications </a:t>
            </a:r>
            <a:r>
              <a:rPr lang="en-US" b="true" sz="1899" i="true" u="sng">
                <a:solidFill>
                  <a:srgbClr val="000000"/>
                </a:solidFill>
                <a:latin typeface="Roboto Bold Italics"/>
                <a:ea typeface="Roboto Bold Italics"/>
                <a:cs typeface="Roboto Bold Italics"/>
                <a:sym typeface="Roboto Bold Italics"/>
                <a:hlinkClick r:id="rId9" tooltip="https://www.zotero.org/google-docs/?g4zCDi"/>
              </a:rPr>
              <a:t>[2]</a:t>
            </a:r>
          </a:p>
        </p:txBody>
      </p:sp>
      <p:sp>
        <p:nvSpPr>
          <p:cNvPr name="TextBox 19" id="19"/>
          <p:cNvSpPr txBox="true"/>
          <p:nvPr/>
        </p:nvSpPr>
        <p:spPr>
          <a:xfrm rot="0">
            <a:off x="5287032" y="5168736"/>
            <a:ext cx="6950125" cy="332740"/>
          </a:xfrm>
          <a:prstGeom prst="rect">
            <a:avLst/>
          </a:prstGeom>
        </p:spPr>
        <p:txBody>
          <a:bodyPr anchor="t" rtlCol="false" tIns="0" lIns="0" bIns="0" rIns="0">
            <a:spAutoFit/>
          </a:bodyPr>
          <a:lstStyle/>
          <a:p>
            <a:pPr algn="ctr">
              <a:lnSpc>
                <a:spcPts val="2659"/>
              </a:lnSpc>
              <a:spcBef>
                <a:spcPct val="0"/>
              </a:spcBef>
            </a:pPr>
            <a:r>
              <a:rPr lang="en-US" b="true" sz="1899" i="true">
                <a:solidFill>
                  <a:srgbClr val="000000"/>
                </a:solidFill>
                <a:latin typeface="Roboto Bold Italics"/>
                <a:ea typeface="Roboto Bold Italics"/>
                <a:cs typeface="Roboto Bold Italics"/>
                <a:sym typeface="Roboto Bold Italics"/>
              </a:rPr>
              <a:t>Manual of Optics and Refraction – Chapter 7: Ophthalmoscopy [3]</a:t>
            </a:r>
          </a:p>
        </p:txBody>
      </p:sp>
      <p:sp>
        <p:nvSpPr>
          <p:cNvPr name="TextBox 20" id="20"/>
          <p:cNvSpPr txBox="true"/>
          <p:nvPr/>
        </p:nvSpPr>
        <p:spPr>
          <a:xfrm rot="0">
            <a:off x="6892278" y="392429"/>
            <a:ext cx="3739634" cy="455296"/>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League Spartan"/>
                <a:ea typeface="League Spartan"/>
                <a:cs typeface="League Spartan"/>
                <a:sym typeface="League Spartan"/>
              </a:rPr>
              <a:t>Articulos academicos</a:t>
            </a:r>
          </a:p>
        </p:txBody>
      </p:sp>
      <p:sp>
        <p:nvSpPr>
          <p:cNvPr name="TextBox 21" id="21"/>
          <p:cNvSpPr txBox="true"/>
          <p:nvPr/>
        </p:nvSpPr>
        <p:spPr>
          <a:xfrm rot="0">
            <a:off x="0" y="9833611"/>
            <a:ext cx="10948512" cy="453389"/>
          </a:xfrm>
          <a:prstGeom prst="rect">
            <a:avLst/>
          </a:prstGeom>
        </p:spPr>
        <p:txBody>
          <a:bodyPr anchor="t" rtlCol="false" tIns="0" lIns="0" bIns="0" rIns="0">
            <a:spAutoFit/>
          </a:bodyPr>
          <a:lstStyle/>
          <a:p>
            <a:pPr algn="l">
              <a:lnSpc>
                <a:spcPts val="1260"/>
              </a:lnSpc>
              <a:spcBef>
                <a:spcPct val="0"/>
              </a:spcBef>
            </a:pPr>
            <a:r>
              <a:rPr lang="en-US" b="true" sz="900" i="true" u="sng">
                <a:solidFill>
                  <a:srgbClr val="000000"/>
                </a:solidFill>
                <a:latin typeface="Roboto Bold Italics"/>
                <a:ea typeface="Roboto Bold Italics"/>
                <a:cs typeface="Roboto Bold Italics"/>
                <a:sym typeface="Roboto Bold Italics"/>
                <a:hlinkClick r:id="rId10" tooltip="https://www.zotero.org/google-docs/?rj8UPg"/>
              </a:rPr>
              <a:t>[2] F. Guo, W. Li, X. Zhao, J. Qiu, y Y. Mai, «A mobile app for Glaucoma diagnosis and its possible clinical applications», BMC Med. Inform. Decis. Mak., vol. 20, n.o S3, p. 128, jul. 2020, doi: 10.1186/s12911-020-1123-2. </a:t>
            </a:r>
          </a:p>
          <a:p>
            <a:pPr algn="l">
              <a:lnSpc>
                <a:spcPts val="1260"/>
              </a:lnSpc>
              <a:spcBef>
                <a:spcPct val="0"/>
              </a:spcBef>
            </a:pPr>
            <a:r>
              <a:rPr lang="en-US" b="true" sz="900" i="true" u="sng">
                <a:solidFill>
                  <a:srgbClr val="000000"/>
                </a:solidFill>
                <a:latin typeface="Roboto Bold Italics"/>
                <a:ea typeface="Roboto Bold Italics"/>
                <a:cs typeface="Roboto Bold Italics"/>
                <a:sym typeface="Roboto Bold Italics"/>
                <a:hlinkClick r:id="rId11" tooltip="https://www.zotero.org/google-docs/?rj8UPg"/>
              </a:rPr>
              <a:t>[3] P. K. Mukherjee, Manual of Optics and Refraction, 2nd ed. Delhi: Jaypee Brothers Medical Publishers, 2021. </a:t>
            </a:r>
          </a:p>
          <a:p>
            <a:pPr algn="l">
              <a:lnSpc>
                <a:spcPts val="1260"/>
              </a:lnSpc>
              <a:spcBef>
                <a:spcPct val="0"/>
              </a:spcBef>
            </a:pPr>
            <a:r>
              <a:rPr lang="en-US" b="true" sz="900" i="true" u="sng">
                <a:solidFill>
                  <a:srgbClr val="000000"/>
                </a:solidFill>
                <a:latin typeface="Roboto Bold Italics"/>
                <a:ea typeface="Roboto Bold Italics"/>
                <a:cs typeface="Roboto Bold Italics"/>
                <a:sym typeface="Roboto Bold Italics"/>
                <a:hlinkClick r:id="rId12" tooltip="https://www.zotero.org/google-docs/?rj8UPg"/>
              </a:rPr>
              <a:t>[4] B. T. Hwang, W. C. Young, C. Campbell, y B. Y. Shen, «Low‐Cost 3D‐Printed Binocular Indirect Ophthalmoscope», J. Ophthalmol., vol. 2025, n.o 1, p. 5638606, ene. 2025, doi: 10.1155/joph/5638606.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2854054" y="4992403"/>
            <a:ext cx="3374514" cy="4874298"/>
          </a:xfrm>
          <a:custGeom>
            <a:avLst/>
            <a:gdLst/>
            <a:ahLst/>
            <a:cxnLst/>
            <a:rect r="r" b="b" t="t" l="l"/>
            <a:pathLst>
              <a:path h="4874298" w="3374514">
                <a:moveTo>
                  <a:pt x="0" y="0"/>
                </a:moveTo>
                <a:lnTo>
                  <a:pt x="3374514" y="0"/>
                </a:lnTo>
                <a:lnTo>
                  <a:pt x="3374514" y="4874298"/>
                </a:lnTo>
                <a:lnTo>
                  <a:pt x="0" y="4874298"/>
                </a:lnTo>
                <a:lnTo>
                  <a:pt x="0" y="0"/>
                </a:lnTo>
                <a:close/>
              </a:path>
            </a:pathLst>
          </a:custGeom>
          <a:blipFill>
            <a:blip r:embed="rId2"/>
            <a:stretch>
              <a:fillRect l="0" t="0" r="0" b="0"/>
            </a:stretch>
          </a:blipFill>
        </p:spPr>
      </p:sp>
      <p:sp>
        <p:nvSpPr>
          <p:cNvPr name="TextBox 3" id="3"/>
          <p:cNvSpPr txBox="true"/>
          <p:nvPr/>
        </p:nvSpPr>
        <p:spPr>
          <a:xfrm rot="0">
            <a:off x="2402066" y="1353680"/>
            <a:ext cx="4881414" cy="332740"/>
          </a:xfrm>
          <a:prstGeom prst="rect">
            <a:avLst/>
          </a:prstGeom>
        </p:spPr>
        <p:txBody>
          <a:bodyPr anchor="t" rtlCol="false" tIns="0" lIns="0" bIns="0" rIns="0">
            <a:spAutoFit/>
          </a:bodyPr>
          <a:lstStyle/>
          <a:p>
            <a:pPr algn="ctr">
              <a:lnSpc>
                <a:spcPts val="2659"/>
              </a:lnSpc>
              <a:spcBef>
                <a:spcPct val="0"/>
              </a:spcBef>
            </a:pPr>
            <a:r>
              <a:rPr lang="en-US" b="true" sz="1899" i="true">
                <a:solidFill>
                  <a:srgbClr val="000000"/>
                </a:solidFill>
                <a:latin typeface="Roboto Bold Italics"/>
                <a:ea typeface="Roboto Bold Italics"/>
                <a:cs typeface="Roboto Bold Italics"/>
                <a:sym typeface="Roboto Bold Italics"/>
              </a:rPr>
              <a:t>US3963329A — Binocular ophthalmoscope [5]</a:t>
            </a:r>
          </a:p>
        </p:txBody>
      </p:sp>
      <p:grpSp>
        <p:nvGrpSpPr>
          <p:cNvPr name="Group 4" id="4"/>
          <p:cNvGrpSpPr/>
          <p:nvPr/>
        </p:nvGrpSpPr>
        <p:grpSpPr>
          <a:xfrm rot="0">
            <a:off x="430476" y="1838820"/>
            <a:ext cx="8329389" cy="3152825"/>
            <a:chOff x="0" y="0"/>
            <a:chExt cx="11105852" cy="4203767"/>
          </a:xfrm>
        </p:grpSpPr>
        <p:sp>
          <p:nvSpPr>
            <p:cNvPr name="Freeform 5" id="5"/>
            <p:cNvSpPr/>
            <p:nvPr/>
          </p:nvSpPr>
          <p:spPr>
            <a:xfrm flipH="false" flipV="false" rot="5400000">
              <a:off x="1362583" y="-1313358"/>
              <a:ext cx="2940110" cy="5665276"/>
            </a:xfrm>
            <a:custGeom>
              <a:avLst/>
              <a:gdLst/>
              <a:ahLst/>
              <a:cxnLst/>
              <a:rect r="r" b="b" t="t" l="l"/>
              <a:pathLst>
                <a:path h="5665276" w="2940110">
                  <a:moveTo>
                    <a:pt x="0" y="0"/>
                  </a:moveTo>
                  <a:lnTo>
                    <a:pt x="2940110" y="0"/>
                  </a:lnTo>
                  <a:lnTo>
                    <a:pt x="2940110" y="5665276"/>
                  </a:lnTo>
                  <a:lnTo>
                    <a:pt x="0" y="5665276"/>
                  </a:lnTo>
                  <a:lnTo>
                    <a:pt x="0" y="0"/>
                  </a:lnTo>
                  <a:close/>
                </a:path>
              </a:pathLst>
            </a:custGeom>
            <a:blipFill>
              <a:blip r:embed="rId3"/>
              <a:stretch>
                <a:fillRect l="0" t="0" r="0" b="0"/>
              </a:stretch>
            </a:blipFill>
          </p:spPr>
        </p:sp>
        <p:sp>
          <p:nvSpPr>
            <p:cNvPr name="Freeform 6" id="6"/>
            <p:cNvSpPr/>
            <p:nvPr/>
          </p:nvSpPr>
          <p:spPr>
            <a:xfrm flipH="false" flipV="false" rot="0">
              <a:off x="6480922" y="0"/>
              <a:ext cx="3896423" cy="3080390"/>
            </a:xfrm>
            <a:custGeom>
              <a:avLst/>
              <a:gdLst/>
              <a:ahLst/>
              <a:cxnLst/>
              <a:rect r="r" b="b" t="t" l="l"/>
              <a:pathLst>
                <a:path h="3080390" w="3896423">
                  <a:moveTo>
                    <a:pt x="0" y="0"/>
                  </a:moveTo>
                  <a:lnTo>
                    <a:pt x="3896424" y="0"/>
                  </a:lnTo>
                  <a:lnTo>
                    <a:pt x="3896424" y="3080390"/>
                  </a:lnTo>
                  <a:lnTo>
                    <a:pt x="0" y="3080390"/>
                  </a:lnTo>
                  <a:lnTo>
                    <a:pt x="0" y="0"/>
                  </a:lnTo>
                  <a:close/>
                </a:path>
              </a:pathLst>
            </a:custGeom>
            <a:blipFill>
              <a:blip r:embed="rId4"/>
              <a:stretch>
                <a:fillRect l="0" t="0" r="0" b="0"/>
              </a:stretch>
            </a:blipFill>
          </p:spPr>
        </p:sp>
        <p:sp>
          <p:nvSpPr>
            <p:cNvPr name="TextBox 7" id="7"/>
            <p:cNvSpPr txBox="true"/>
            <p:nvPr/>
          </p:nvSpPr>
          <p:spPr>
            <a:xfrm rot="0">
              <a:off x="0" y="3061340"/>
              <a:ext cx="5665276" cy="1004570"/>
            </a:xfrm>
            <a:prstGeom prst="rect">
              <a:avLst/>
            </a:prstGeom>
          </p:spPr>
          <p:txBody>
            <a:bodyPr anchor="t" rtlCol="false" tIns="0" lIns="0" bIns="0" rIns="0">
              <a:spAutoFit/>
            </a:bodyPr>
            <a:lstStyle/>
            <a:p>
              <a:pPr algn="ctr">
                <a:lnSpc>
                  <a:spcPts val="1260"/>
                </a:lnSpc>
                <a:spcBef>
                  <a:spcPct val="0"/>
                </a:spcBef>
              </a:pPr>
              <a:r>
                <a:rPr lang="en-US" sz="900">
                  <a:solidFill>
                    <a:srgbClr val="000000"/>
                  </a:solidFill>
                  <a:latin typeface="Roboto"/>
                  <a:ea typeface="Roboto"/>
                  <a:cs typeface="Roboto"/>
                  <a:sym typeface="Roboto"/>
                </a:rPr>
                <a:t>Fig. 9. Esquema de la arquitectura óptica de un oftalmoscopio binocular. Se observa el conjunto de espejos de observación, los dos trayectos ópticos dirigidos hacia los ojos del examinador, la lente ocular telecéntrica y la lente oftalmoscópica ubicada frente al ojo del paciente. El sistema permite modificar la distancia entre los trayectos ópticos mediante el desplazamiento del conjunto de espejos [5]</a:t>
              </a:r>
            </a:p>
          </p:txBody>
        </p:sp>
        <p:sp>
          <p:nvSpPr>
            <p:cNvPr name="TextBox 8" id="8"/>
            <p:cNvSpPr txBox="true"/>
            <p:nvPr/>
          </p:nvSpPr>
          <p:spPr>
            <a:xfrm rot="0">
              <a:off x="5752417" y="3199197"/>
              <a:ext cx="5353435" cy="1004570"/>
            </a:xfrm>
            <a:prstGeom prst="rect">
              <a:avLst/>
            </a:prstGeom>
          </p:spPr>
          <p:txBody>
            <a:bodyPr anchor="t" rtlCol="false" tIns="0" lIns="0" bIns="0" rIns="0">
              <a:spAutoFit/>
            </a:bodyPr>
            <a:lstStyle/>
            <a:p>
              <a:pPr algn="ctr">
                <a:lnSpc>
                  <a:spcPts val="1260"/>
                </a:lnSpc>
                <a:spcBef>
                  <a:spcPct val="0"/>
                </a:spcBef>
              </a:pPr>
              <a:r>
                <a:rPr lang="en-US" sz="900">
                  <a:solidFill>
                    <a:srgbClr val="000000"/>
                  </a:solidFill>
                  <a:latin typeface="Roboto"/>
                  <a:ea typeface="Roboto"/>
                  <a:cs typeface="Roboto"/>
                  <a:sym typeface="Roboto"/>
                </a:rPr>
                <a:t>Fig. 10. Mecanismo de ajuste de los espejos del oftalmoscopio binocular. La figura muestra dos etapas móviles: una soporta el conjunto de espejos de observación y la otra el espejo de iluminación. Ambas pueden desplazarse conjuntamente o de manera independiente mediante elementos de ajuste y bloqueo, permitiendo regular la posición relativa de los espejos [5]</a:t>
              </a:r>
            </a:p>
          </p:txBody>
        </p:sp>
      </p:grpSp>
      <p:grpSp>
        <p:nvGrpSpPr>
          <p:cNvPr name="Group 9" id="9"/>
          <p:cNvGrpSpPr/>
          <p:nvPr/>
        </p:nvGrpSpPr>
        <p:grpSpPr>
          <a:xfrm rot="0">
            <a:off x="9630787" y="2746031"/>
            <a:ext cx="8226737" cy="5616277"/>
            <a:chOff x="0" y="0"/>
            <a:chExt cx="10968983" cy="7488369"/>
          </a:xfrm>
        </p:grpSpPr>
        <p:sp>
          <p:nvSpPr>
            <p:cNvPr name="Freeform 10" id="10"/>
            <p:cNvSpPr/>
            <p:nvPr/>
          </p:nvSpPr>
          <p:spPr>
            <a:xfrm flipH="false" flipV="false" rot="5400000">
              <a:off x="1054029" y="226419"/>
              <a:ext cx="4098207" cy="6206264"/>
            </a:xfrm>
            <a:custGeom>
              <a:avLst/>
              <a:gdLst/>
              <a:ahLst/>
              <a:cxnLst/>
              <a:rect r="r" b="b" t="t" l="l"/>
              <a:pathLst>
                <a:path h="6206264" w="4098207">
                  <a:moveTo>
                    <a:pt x="0" y="0"/>
                  </a:moveTo>
                  <a:lnTo>
                    <a:pt x="4098207" y="0"/>
                  </a:lnTo>
                  <a:lnTo>
                    <a:pt x="4098207" y="6206265"/>
                  </a:lnTo>
                  <a:lnTo>
                    <a:pt x="0" y="6206265"/>
                  </a:lnTo>
                  <a:lnTo>
                    <a:pt x="0" y="0"/>
                  </a:lnTo>
                  <a:close/>
                </a:path>
              </a:pathLst>
            </a:custGeom>
            <a:blipFill>
              <a:blip r:embed="rId5"/>
              <a:stretch>
                <a:fillRect l="0" t="0" r="0" b="0"/>
              </a:stretch>
            </a:blipFill>
          </p:spPr>
        </p:sp>
        <p:sp>
          <p:nvSpPr>
            <p:cNvPr name="Freeform 11" id="11"/>
            <p:cNvSpPr/>
            <p:nvPr/>
          </p:nvSpPr>
          <p:spPr>
            <a:xfrm flipH="false" flipV="false" rot="0">
              <a:off x="6458216" y="0"/>
              <a:ext cx="4407181" cy="6364175"/>
            </a:xfrm>
            <a:custGeom>
              <a:avLst/>
              <a:gdLst/>
              <a:ahLst/>
              <a:cxnLst/>
              <a:rect r="r" b="b" t="t" l="l"/>
              <a:pathLst>
                <a:path h="6364175" w="4407181">
                  <a:moveTo>
                    <a:pt x="0" y="0"/>
                  </a:moveTo>
                  <a:lnTo>
                    <a:pt x="4407181" y="0"/>
                  </a:lnTo>
                  <a:lnTo>
                    <a:pt x="4407181" y="6364175"/>
                  </a:lnTo>
                  <a:lnTo>
                    <a:pt x="0" y="6364175"/>
                  </a:lnTo>
                  <a:lnTo>
                    <a:pt x="0" y="0"/>
                  </a:lnTo>
                  <a:close/>
                </a:path>
              </a:pathLst>
            </a:custGeom>
            <a:blipFill>
              <a:blip r:embed="rId6"/>
              <a:stretch>
                <a:fillRect l="0" t="0" r="0" b="0"/>
              </a:stretch>
            </a:blipFill>
          </p:spPr>
        </p:sp>
        <p:sp>
          <p:nvSpPr>
            <p:cNvPr name="TextBox 12" id="12"/>
            <p:cNvSpPr txBox="true"/>
            <p:nvPr/>
          </p:nvSpPr>
          <p:spPr>
            <a:xfrm rot="0">
              <a:off x="795956" y="5359605"/>
              <a:ext cx="4614353" cy="1004570"/>
            </a:xfrm>
            <a:prstGeom prst="rect">
              <a:avLst/>
            </a:prstGeom>
          </p:spPr>
          <p:txBody>
            <a:bodyPr anchor="t" rtlCol="false" tIns="0" lIns="0" bIns="0" rIns="0">
              <a:spAutoFit/>
            </a:bodyPr>
            <a:lstStyle/>
            <a:p>
              <a:pPr algn="ctr">
                <a:lnSpc>
                  <a:spcPts val="1260"/>
                </a:lnSpc>
                <a:spcBef>
                  <a:spcPct val="0"/>
                </a:spcBef>
              </a:pPr>
              <a:r>
                <a:rPr lang="en-US" sz="900">
                  <a:solidFill>
                    <a:srgbClr val="000000"/>
                  </a:solidFill>
                  <a:latin typeface="Roboto"/>
                  <a:ea typeface="Roboto"/>
                  <a:cs typeface="Roboto"/>
                  <a:sym typeface="Roboto"/>
                </a:rPr>
                <a:t>Fig. 11. Detalle del elemento prismático utilizado para plegar el trayecto óptico dentro del oftalmoscopio. Se muestran las superficies reflectantes internas que redirigen el haz y permiten aumentar la longitud efectiva del recorrido óptico sin incrementar proporcionalmente las dimensiones externas del dispositivo [6]</a:t>
              </a:r>
            </a:p>
          </p:txBody>
        </p:sp>
        <p:sp>
          <p:nvSpPr>
            <p:cNvPr name="TextBox 13" id="13"/>
            <p:cNvSpPr txBox="true"/>
            <p:nvPr/>
          </p:nvSpPr>
          <p:spPr>
            <a:xfrm rot="0">
              <a:off x="6354630" y="6483799"/>
              <a:ext cx="4614353" cy="1004570"/>
            </a:xfrm>
            <a:prstGeom prst="rect">
              <a:avLst/>
            </a:prstGeom>
          </p:spPr>
          <p:txBody>
            <a:bodyPr anchor="t" rtlCol="false" tIns="0" lIns="0" bIns="0" rIns="0">
              <a:spAutoFit/>
            </a:bodyPr>
            <a:lstStyle/>
            <a:p>
              <a:pPr algn="ctr">
                <a:lnSpc>
                  <a:spcPts val="1260"/>
                </a:lnSpc>
                <a:spcBef>
                  <a:spcPct val="0"/>
                </a:spcBef>
              </a:pPr>
              <a:r>
                <a:rPr lang="en-US" sz="900">
                  <a:solidFill>
                    <a:srgbClr val="000000"/>
                  </a:solidFill>
                  <a:latin typeface="Roboto"/>
                  <a:ea typeface="Roboto"/>
                  <a:cs typeface="Roboto"/>
                  <a:sym typeface="Roboto"/>
                </a:rPr>
                <a:t>Fig. 11. Detalle del elemento prismático utilizado para plegar el trayecto óptico dentro del oftalmoscopio. Se muestran las superficies reflectantes internas que redirigen el haz y permiten aumentar la longitud efectiva del recorrido óptico sin incrementar proporcionalmente las dimensiones externas del dispositivo [6]</a:t>
              </a:r>
            </a:p>
          </p:txBody>
        </p:sp>
      </p:grpSp>
      <p:sp>
        <p:nvSpPr>
          <p:cNvPr name="TextBox 14" id="14"/>
          <p:cNvSpPr txBox="true"/>
          <p:nvPr/>
        </p:nvSpPr>
        <p:spPr>
          <a:xfrm rot="0">
            <a:off x="2581122" y="9097759"/>
            <a:ext cx="4028098" cy="453390"/>
          </a:xfrm>
          <a:prstGeom prst="rect">
            <a:avLst/>
          </a:prstGeom>
        </p:spPr>
        <p:txBody>
          <a:bodyPr anchor="t" rtlCol="false" tIns="0" lIns="0" bIns="0" rIns="0">
            <a:spAutoFit/>
          </a:bodyPr>
          <a:lstStyle/>
          <a:p>
            <a:pPr algn="ctr">
              <a:lnSpc>
                <a:spcPts val="1260"/>
              </a:lnSpc>
              <a:spcBef>
                <a:spcPct val="0"/>
              </a:spcBef>
            </a:pPr>
            <a:r>
              <a:rPr lang="en-US" sz="900">
                <a:solidFill>
                  <a:srgbClr val="000000"/>
                </a:solidFill>
                <a:latin typeface="Roboto"/>
                <a:ea typeface="Roboto"/>
                <a:cs typeface="Roboto"/>
                <a:sym typeface="Roboto"/>
              </a:rPr>
              <a:t>Fig. 13. Esquema de la configuración óptica del oftalmoscopio, mostrando la disposición de las lentes, espejos y elementos prismáticos empleados para plegar y dirigir los trayectos ópticos hacia los ojos del examinador [7]</a:t>
            </a:r>
          </a:p>
        </p:txBody>
      </p:sp>
      <p:sp>
        <p:nvSpPr>
          <p:cNvPr name="TextBox 15" id="15"/>
          <p:cNvSpPr txBox="true"/>
          <p:nvPr/>
        </p:nvSpPr>
        <p:spPr>
          <a:xfrm rot="0">
            <a:off x="9630787" y="1791195"/>
            <a:ext cx="8207563" cy="666115"/>
          </a:xfrm>
          <a:prstGeom prst="rect">
            <a:avLst/>
          </a:prstGeom>
        </p:spPr>
        <p:txBody>
          <a:bodyPr anchor="t" rtlCol="false" tIns="0" lIns="0" bIns="0" rIns="0">
            <a:spAutoFit/>
          </a:bodyPr>
          <a:lstStyle/>
          <a:p>
            <a:pPr algn="ctr">
              <a:lnSpc>
                <a:spcPts val="2659"/>
              </a:lnSpc>
              <a:spcBef>
                <a:spcPct val="0"/>
              </a:spcBef>
            </a:pPr>
            <a:r>
              <a:rPr lang="en-US" b="true" sz="1899" i="true">
                <a:solidFill>
                  <a:srgbClr val="000000"/>
                </a:solidFill>
                <a:latin typeface="Roboto Bold Italics"/>
                <a:ea typeface="Roboto Bold Italics"/>
                <a:cs typeface="Roboto Bold Italics"/>
                <a:sym typeface="Roboto Bold Italics"/>
              </a:rPr>
              <a:t>US4682866A — Head-borne binocular indirect ophthalmoscope with integrated telescope [6]</a:t>
            </a:r>
          </a:p>
        </p:txBody>
      </p:sp>
      <p:sp>
        <p:nvSpPr>
          <p:cNvPr name="TextBox 16" id="16"/>
          <p:cNvSpPr txBox="true"/>
          <p:nvPr/>
        </p:nvSpPr>
        <p:spPr>
          <a:xfrm rot="0">
            <a:off x="1354763" y="5258345"/>
            <a:ext cx="6976021" cy="332740"/>
          </a:xfrm>
          <a:prstGeom prst="rect">
            <a:avLst/>
          </a:prstGeom>
        </p:spPr>
        <p:txBody>
          <a:bodyPr anchor="t" rtlCol="false" tIns="0" lIns="0" bIns="0" rIns="0">
            <a:spAutoFit/>
          </a:bodyPr>
          <a:lstStyle/>
          <a:p>
            <a:pPr algn="ctr">
              <a:lnSpc>
                <a:spcPts val="2659"/>
              </a:lnSpc>
              <a:spcBef>
                <a:spcPct val="0"/>
              </a:spcBef>
            </a:pPr>
            <a:r>
              <a:rPr lang="en-US" b="true" sz="1899" i="true">
                <a:solidFill>
                  <a:srgbClr val="000000"/>
                </a:solidFill>
                <a:latin typeface="Roboto Bold Italics"/>
                <a:ea typeface="Roboto Bold Italics"/>
                <a:cs typeface="Roboto Bold Italics"/>
                <a:sym typeface="Roboto Bold Italics"/>
              </a:rPr>
              <a:t>US5400092A — Small pupil binocular indirect ophthalmoscope [7]</a:t>
            </a:r>
          </a:p>
        </p:txBody>
      </p:sp>
      <p:sp>
        <p:nvSpPr>
          <p:cNvPr name="TextBox 17" id="17"/>
          <p:cNvSpPr txBox="true"/>
          <p:nvPr/>
        </p:nvSpPr>
        <p:spPr>
          <a:xfrm rot="0">
            <a:off x="8383072" y="359814"/>
            <a:ext cx="1521857" cy="455296"/>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League Spartan"/>
                <a:ea typeface="League Spartan"/>
                <a:cs typeface="League Spartan"/>
                <a:sym typeface="League Spartan"/>
              </a:rPr>
              <a:t>Patentes</a:t>
            </a:r>
          </a:p>
        </p:txBody>
      </p:sp>
      <p:sp>
        <p:nvSpPr>
          <p:cNvPr name="TextBox 18" id="18"/>
          <p:cNvSpPr txBox="true"/>
          <p:nvPr/>
        </p:nvSpPr>
        <p:spPr>
          <a:xfrm rot="0">
            <a:off x="199564" y="9683954"/>
            <a:ext cx="11927563" cy="605789"/>
          </a:xfrm>
          <a:prstGeom prst="rect">
            <a:avLst/>
          </a:prstGeom>
        </p:spPr>
        <p:txBody>
          <a:bodyPr anchor="t" rtlCol="false" tIns="0" lIns="0" bIns="0" rIns="0">
            <a:spAutoFit/>
          </a:bodyPr>
          <a:lstStyle/>
          <a:p>
            <a:pPr algn="l">
              <a:lnSpc>
                <a:spcPts val="1260"/>
              </a:lnSpc>
              <a:spcBef>
                <a:spcPct val="0"/>
              </a:spcBef>
            </a:pPr>
            <a:r>
              <a:rPr lang="en-US" b="true" sz="900" i="true" u="sng">
                <a:solidFill>
                  <a:srgbClr val="000000"/>
                </a:solidFill>
                <a:latin typeface="Roboto Bold Italics"/>
                <a:ea typeface="Roboto Bold Italics"/>
                <a:cs typeface="Roboto Bold Italics"/>
                <a:sym typeface="Roboto Bold Italics"/>
                <a:hlinkClick r:id="rId7" tooltip="https://www.zotero.org/google-docs/?rj8UPg"/>
              </a:rPr>
              <a:t>[5] C. L. Schepens y Y. M. Reznichenko, «Binocular ophthalmoscope», US5400092A, 21 de marzo de 1995 Accedido: 19 de septiembre de 2026. [En línea]. Disponible en: https://patents.google.com/patent/US5400092A/en </a:t>
            </a:r>
          </a:p>
          <a:p>
            <a:pPr algn="l">
              <a:lnSpc>
                <a:spcPts val="1260"/>
              </a:lnSpc>
              <a:spcBef>
                <a:spcPct val="0"/>
              </a:spcBef>
            </a:pPr>
            <a:r>
              <a:rPr lang="en-US" b="true" sz="900" i="true" u="sng">
                <a:solidFill>
                  <a:srgbClr val="000000"/>
                </a:solidFill>
                <a:latin typeface="Roboto Bold Italics"/>
                <a:ea typeface="Roboto Bold Italics"/>
                <a:cs typeface="Roboto Bold Italics"/>
                <a:sym typeface="Roboto Bold Italics"/>
                <a:hlinkClick r:id="rId8" tooltip="https://www.zotero.org/google-docs/?rj8UPg"/>
              </a:rPr>
              <a:t>[6] D. Volk, «Head-borne binocular indirect ophthalmoscope with integrated telescope», US4682866A, 28 de julio de 1987 Accedido: 19 de septiembre de 2026. [En línea]. Disponible en: https://patents.google.com/patent/US4682866A/en </a:t>
            </a:r>
          </a:p>
          <a:p>
            <a:pPr algn="l">
              <a:lnSpc>
                <a:spcPts val="1260"/>
              </a:lnSpc>
              <a:spcBef>
                <a:spcPct val="0"/>
              </a:spcBef>
            </a:pPr>
            <a:r>
              <a:rPr lang="en-US" b="true" sz="900" i="true" u="sng">
                <a:solidFill>
                  <a:srgbClr val="000000"/>
                </a:solidFill>
                <a:latin typeface="Roboto Bold Italics"/>
                <a:ea typeface="Roboto Bold Italics"/>
                <a:cs typeface="Roboto Bold Italics"/>
                <a:sym typeface="Roboto Bold Italics"/>
                <a:hlinkClick r:id="rId9" tooltip="https://www.zotero.org/google-docs/?rj8UPg"/>
              </a:rPr>
              <a:t>[7] J. G. Stumpf y W. M. Lewis, «Small pupil binocular indirect ophthalmoscope», US3963329A, 15 de junio de 1976 Accedido: 19 de septiembre de 2026. [En línea]. Disponible en: https://patents.google.com/patent/US3963329A/en </a:t>
            </a:r>
          </a:p>
          <a:p>
            <a:pPr algn="l">
              <a:lnSpc>
                <a:spcPts val="1260"/>
              </a:lnSpc>
              <a:spcBef>
                <a:spcPct val="0"/>
              </a:spcBef>
            </a:pPr>
            <a:r>
              <a:rPr lang="en-US" b="true" sz="900" i="true">
                <a:solidFill>
                  <a:srgbClr val="000000"/>
                </a:solidFill>
                <a:latin typeface="Roboto Bold Italics"/>
                <a:ea typeface="Roboto Bold Italics"/>
                <a:cs typeface="Roboto Bold Italics"/>
                <a:sym typeface="Roboto Bold Italics"/>
              </a:rPr>
              <a:t>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58519" y="3676867"/>
            <a:ext cx="3912055" cy="3692892"/>
          </a:xfrm>
          <a:custGeom>
            <a:avLst/>
            <a:gdLst/>
            <a:ahLst/>
            <a:cxnLst/>
            <a:rect r="r" b="b" t="t" l="l"/>
            <a:pathLst>
              <a:path h="3692892" w="3912055">
                <a:moveTo>
                  <a:pt x="0" y="0"/>
                </a:moveTo>
                <a:lnTo>
                  <a:pt x="3912055" y="0"/>
                </a:lnTo>
                <a:lnTo>
                  <a:pt x="3912055" y="3692893"/>
                </a:lnTo>
                <a:lnTo>
                  <a:pt x="0" y="3692893"/>
                </a:lnTo>
                <a:lnTo>
                  <a:pt x="0" y="0"/>
                </a:lnTo>
                <a:close/>
              </a:path>
            </a:pathLst>
          </a:custGeom>
          <a:blipFill>
            <a:blip r:embed="rId2"/>
            <a:stretch>
              <a:fillRect l="0" t="0" r="0" b="0"/>
            </a:stretch>
          </a:blipFill>
        </p:spPr>
      </p:sp>
      <p:sp>
        <p:nvSpPr>
          <p:cNvPr name="Freeform 3" id="3"/>
          <p:cNvSpPr/>
          <p:nvPr/>
        </p:nvSpPr>
        <p:spPr>
          <a:xfrm flipH="false" flipV="false" rot="0">
            <a:off x="5464417" y="4032842"/>
            <a:ext cx="3928482" cy="3167063"/>
          </a:xfrm>
          <a:custGeom>
            <a:avLst/>
            <a:gdLst/>
            <a:ahLst/>
            <a:cxnLst/>
            <a:rect r="r" b="b" t="t" l="l"/>
            <a:pathLst>
              <a:path h="3167063" w="3928482">
                <a:moveTo>
                  <a:pt x="0" y="0"/>
                </a:moveTo>
                <a:lnTo>
                  <a:pt x="3928483" y="0"/>
                </a:lnTo>
                <a:lnTo>
                  <a:pt x="3928483" y="3167063"/>
                </a:lnTo>
                <a:lnTo>
                  <a:pt x="0" y="3167063"/>
                </a:lnTo>
                <a:lnTo>
                  <a:pt x="0" y="0"/>
                </a:lnTo>
                <a:close/>
              </a:path>
            </a:pathLst>
          </a:custGeom>
          <a:blipFill>
            <a:blip r:embed="rId3"/>
            <a:stretch>
              <a:fillRect l="0" t="0" r="0" b="0"/>
            </a:stretch>
          </a:blipFill>
        </p:spPr>
      </p:sp>
      <p:sp>
        <p:nvSpPr>
          <p:cNvPr name="Freeform 4" id="4"/>
          <p:cNvSpPr/>
          <p:nvPr/>
        </p:nvSpPr>
        <p:spPr>
          <a:xfrm flipH="false" flipV="false" rot="0">
            <a:off x="11269250" y="3635903"/>
            <a:ext cx="5253147" cy="3949634"/>
          </a:xfrm>
          <a:custGeom>
            <a:avLst/>
            <a:gdLst/>
            <a:ahLst/>
            <a:cxnLst/>
            <a:rect r="r" b="b" t="t" l="l"/>
            <a:pathLst>
              <a:path h="3949634" w="5253147">
                <a:moveTo>
                  <a:pt x="0" y="0"/>
                </a:moveTo>
                <a:lnTo>
                  <a:pt x="5253147" y="0"/>
                </a:lnTo>
                <a:lnTo>
                  <a:pt x="5253147" y="3949634"/>
                </a:lnTo>
                <a:lnTo>
                  <a:pt x="0" y="3949634"/>
                </a:lnTo>
                <a:lnTo>
                  <a:pt x="0" y="0"/>
                </a:lnTo>
                <a:close/>
              </a:path>
            </a:pathLst>
          </a:custGeom>
          <a:blipFill>
            <a:blip r:embed="rId4"/>
            <a:stretch>
              <a:fillRect l="0" t="0" r="0" b="-1979"/>
            </a:stretch>
          </a:blipFill>
        </p:spPr>
      </p:sp>
      <p:sp>
        <p:nvSpPr>
          <p:cNvPr name="TextBox 5" id="5"/>
          <p:cNvSpPr txBox="true"/>
          <p:nvPr/>
        </p:nvSpPr>
        <p:spPr>
          <a:xfrm rot="0">
            <a:off x="1216324" y="7557441"/>
            <a:ext cx="3581985" cy="183981"/>
          </a:xfrm>
          <a:prstGeom prst="rect">
            <a:avLst/>
          </a:prstGeom>
        </p:spPr>
        <p:txBody>
          <a:bodyPr anchor="t" rtlCol="false" tIns="0" lIns="0" bIns="0" rIns="0">
            <a:spAutoFit/>
          </a:bodyPr>
          <a:lstStyle/>
          <a:p>
            <a:pPr algn="ctr">
              <a:lnSpc>
                <a:spcPts val="1511"/>
              </a:lnSpc>
              <a:spcBef>
                <a:spcPct val="0"/>
              </a:spcBef>
            </a:pPr>
            <a:r>
              <a:rPr lang="en-US" b="true" sz="1079" i="true">
                <a:solidFill>
                  <a:srgbClr val="000000"/>
                </a:solidFill>
                <a:latin typeface="Roboto Bold Italics"/>
                <a:ea typeface="Roboto Bold Italics"/>
                <a:cs typeface="Roboto Bold Italics"/>
                <a:sym typeface="Roboto Bold Italics"/>
              </a:rPr>
              <a:t>Fig. 14. Vantage Plus LED Convertible [8]</a:t>
            </a:r>
          </a:p>
        </p:txBody>
      </p:sp>
      <p:sp>
        <p:nvSpPr>
          <p:cNvPr name="TextBox 6" id="6"/>
          <p:cNvSpPr txBox="true"/>
          <p:nvPr/>
        </p:nvSpPr>
        <p:spPr>
          <a:xfrm rot="0">
            <a:off x="5125709" y="7557441"/>
            <a:ext cx="3818380" cy="183981"/>
          </a:xfrm>
          <a:prstGeom prst="rect">
            <a:avLst/>
          </a:prstGeom>
        </p:spPr>
        <p:txBody>
          <a:bodyPr anchor="t" rtlCol="false" tIns="0" lIns="0" bIns="0" rIns="0">
            <a:spAutoFit/>
          </a:bodyPr>
          <a:lstStyle/>
          <a:p>
            <a:pPr algn="ctr">
              <a:lnSpc>
                <a:spcPts val="1511"/>
              </a:lnSpc>
              <a:spcBef>
                <a:spcPct val="0"/>
              </a:spcBef>
            </a:pPr>
            <a:r>
              <a:rPr lang="en-US" b="true" sz="1079" i="true">
                <a:solidFill>
                  <a:srgbClr val="000000"/>
                </a:solidFill>
                <a:latin typeface="Roboto Bold Italics"/>
                <a:ea typeface="Roboto Bold Italics"/>
                <a:cs typeface="Roboto Bold Italics"/>
                <a:sym typeface="Roboto Bold Italics"/>
              </a:rPr>
              <a:t>Fig. 15. Spectra Iris [8]</a:t>
            </a:r>
          </a:p>
        </p:txBody>
      </p:sp>
      <p:sp>
        <p:nvSpPr>
          <p:cNvPr name="TextBox 7" id="7"/>
          <p:cNvSpPr txBox="true"/>
          <p:nvPr/>
        </p:nvSpPr>
        <p:spPr>
          <a:xfrm rot="0">
            <a:off x="13275393" y="7635145"/>
            <a:ext cx="1240861" cy="176543"/>
          </a:xfrm>
          <a:prstGeom prst="rect">
            <a:avLst/>
          </a:prstGeom>
        </p:spPr>
        <p:txBody>
          <a:bodyPr anchor="t" rtlCol="false" tIns="0" lIns="0" bIns="0" rIns="0">
            <a:spAutoFit/>
          </a:bodyPr>
          <a:lstStyle/>
          <a:p>
            <a:pPr algn="ctr">
              <a:lnSpc>
                <a:spcPts val="1439"/>
              </a:lnSpc>
              <a:spcBef>
                <a:spcPct val="0"/>
              </a:spcBef>
            </a:pPr>
            <a:r>
              <a:rPr lang="en-US" b="true" sz="1028" i="true">
                <a:solidFill>
                  <a:srgbClr val="000000"/>
                </a:solidFill>
                <a:latin typeface="Roboto Bold Italics"/>
                <a:ea typeface="Roboto Bold Italics"/>
                <a:cs typeface="Roboto Bold Italics"/>
                <a:sym typeface="Roboto Bold Italics"/>
              </a:rPr>
              <a:t>Fig. 16. Air Pupil II [9]</a:t>
            </a:r>
          </a:p>
        </p:txBody>
      </p:sp>
      <p:sp>
        <p:nvSpPr>
          <p:cNvPr name="TextBox 8" id="8"/>
          <p:cNvSpPr txBox="true"/>
          <p:nvPr/>
        </p:nvSpPr>
        <p:spPr>
          <a:xfrm rot="0">
            <a:off x="6408301" y="340764"/>
            <a:ext cx="5471398" cy="613411"/>
          </a:xfrm>
          <a:prstGeom prst="rect">
            <a:avLst/>
          </a:prstGeom>
        </p:spPr>
        <p:txBody>
          <a:bodyPr anchor="t" rtlCol="false" tIns="0" lIns="0" bIns="0" rIns="0">
            <a:spAutoFit/>
          </a:bodyPr>
          <a:lstStyle/>
          <a:p>
            <a:pPr algn="ctr">
              <a:lnSpc>
                <a:spcPts val="5039"/>
              </a:lnSpc>
              <a:spcBef>
                <a:spcPct val="0"/>
              </a:spcBef>
            </a:pPr>
            <a:r>
              <a:rPr lang="en-US" sz="3599">
                <a:solidFill>
                  <a:srgbClr val="000000"/>
                </a:solidFill>
                <a:latin typeface="League Spartan"/>
                <a:ea typeface="League Spartan"/>
                <a:cs typeface="League Spartan"/>
                <a:sym typeface="League Spartan"/>
              </a:rPr>
              <a:t>Páginas de Fabricantes</a:t>
            </a:r>
          </a:p>
        </p:txBody>
      </p:sp>
      <p:sp>
        <p:nvSpPr>
          <p:cNvPr name="TextBox 9" id="9"/>
          <p:cNvSpPr txBox="true"/>
          <p:nvPr/>
        </p:nvSpPr>
        <p:spPr>
          <a:xfrm rot="0">
            <a:off x="2745669" y="2860090"/>
            <a:ext cx="4731566" cy="436161"/>
          </a:xfrm>
          <a:prstGeom prst="rect">
            <a:avLst/>
          </a:prstGeom>
        </p:spPr>
        <p:txBody>
          <a:bodyPr anchor="t" rtlCol="false" tIns="0" lIns="0" bIns="0" rIns="0">
            <a:spAutoFit/>
          </a:bodyPr>
          <a:lstStyle/>
          <a:p>
            <a:pPr algn="ctr">
              <a:lnSpc>
                <a:spcPts val="3536"/>
              </a:lnSpc>
              <a:spcBef>
                <a:spcPct val="0"/>
              </a:spcBef>
            </a:pPr>
            <a:r>
              <a:rPr lang="en-US" b="true" sz="2525" i="true">
                <a:solidFill>
                  <a:srgbClr val="000000"/>
                </a:solidFill>
                <a:latin typeface="Roboto Bold Italics"/>
                <a:ea typeface="Roboto Bold Italics"/>
                <a:cs typeface="Roboto Bold Italics"/>
                <a:sym typeface="Roboto Bold Italics"/>
              </a:rPr>
              <a:t>Keeler In</a:t>
            </a:r>
            <a:r>
              <a:rPr lang="en-US" b="true" sz="2525" i="true">
                <a:solidFill>
                  <a:srgbClr val="000000"/>
                </a:solidFill>
                <a:latin typeface="Roboto Bold Italics"/>
                <a:ea typeface="Roboto Bold Italics"/>
                <a:cs typeface="Roboto Bold Italics"/>
                <a:sym typeface="Roboto Bold Italics"/>
              </a:rPr>
              <a:t>ternational Catalogue </a:t>
            </a:r>
            <a:r>
              <a:rPr lang="en-US" b="true" sz="2525" i="true" u="sng">
                <a:solidFill>
                  <a:srgbClr val="000000"/>
                </a:solidFill>
                <a:latin typeface="Roboto Bold Italics"/>
                <a:ea typeface="Roboto Bold Italics"/>
                <a:cs typeface="Roboto Bold Italics"/>
                <a:sym typeface="Roboto Bold Italics"/>
                <a:hlinkClick r:id="rId5" tooltip="https://www.zotero.org/google-docs/?lyD5JA"/>
              </a:rPr>
              <a:t>[8]</a:t>
            </a:r>
          </a:p>
        </p:txBody>
      </p:sp>
      <p:sp>
        <p:nvSpPr>
          <p:cNvPr name="TextBox 10" id="10"/>
          <p:cNvSpPr txBox="true"/>
          <p:nvPr/>
        </p:nvSpPr>
        <p:spPr>
          <a:xfrm rot="0">
            <a:off x="9503647" y="3096872"/>
            <a:ext cx="8784353" cy="373299"/>
          </a:xfrm>
          <a:prstGeom prst="rect">
            <a:avLst/>
          </a:prstGeom>
        </p:spPr>
        <p:txBody>
          <a:bodyPr anchor="t" rtlCol="false" tIns="0" lIns="0" bIns="0" rIns="0">
            <a:spAutoFit/>
          </a:bodyPr>
          <a:lstStyle/>
          <a:p>
            <a:pPr algn="ctr">
              <a:lnSpc>
                <a:spcPts val="3038"/>
              </a:lnSpc>
              <a:spcBef>
                <a:spcPct val="0"/>
              </a:spcBef>
            </a:pPr>
            <a:r>
              <a:rPr lang="en-US" b="true" sz="2170" i="true">
                <a:solidFill>
                  <a:srgbClr val="000000"/>
                </a:solidFill>
                <a:latin typeface="Roboto Bold Italics"/>
                <a:ea typeface="Roboto Bold Italics"/>
                <a:cs typeface="Roboto Bold Italics"/>
                <a:sym typeface="Roboto Bold Italics"/>
              </a:rPr>
              <a:t>Riester - </a:t>
            </a:r>
            <a:r>
              <a:rPr lang="en-US" b="true" sz="2170" i="true">
                <a:solidFill>
                  <a:srgbClr val="000000"/>
                </a:solidFill>
                <a:latin typeface="Roboto Bold Italics"/>
                <a:ea typeface="Roboto Bold Italics"/>
                <a:cs typeface="Roboto Bold Italics"/>
                <a:sym typeface="Roboto Bold Italics"/>
              </a:rPr>
              <a:t>Catálogo de Productos para Cuidado Primario y Hospitalario </a:t>
            </a:r>
            <a:r>
              <a:rPr lang="en-US" b="true" sz="2170" i="true" u="sng">
                <a:solidFill>
                  <a:srgbClr val="000000"/>
                </a:solidFill>
                <a:latin typeface="Roboto Bold Italics"/>
                <a:ea typeface="Roboto Bold Italics"/>
                <a:cs typeface="Roboto Bold Italics"/>
                <a:sym typeface="Roboto Bold Italics"/>
                <a:hlinkClick r:id="rId6" tooltip="https://www.zotero.org/google-docs/?t7moAM"/>
              </a:rPr>
              <a:t>[9]</a:t>
            </a:r>
          </a:p>
        </p:txBody>
      </p:sp>
      <p:sp>
        <p:nvSpPr>
          <p:cNvPr name="TextBox 11" id="11"/>
          <p:cNvSpPr txBox="true"/>
          <p:nvPr/>
        </p:nvSpPr>
        <p:spPr>
          <a:xfrm rot="0">
            <a:off x="0" y="9833611"/>
            <a:ext cx="12883753" cy="453389"/>
          </a:xfrm>
          <a:prstGeom prst="rect">
            <a:avLst/>
          </a:prstGeom>
        </p:spPr>
        <p:txBody>
          <a:bodyPr anchor="t" rtlCol="false" tIns="0" lIns="0" bIns="0" rIns="0">
            <a:spAutoFit/>
          </a:bodyPr>
          <a:lstStyle/>
          <a:p>
            <a:pPr algn="l">
              <a:lnSpc>
                <a:spcPts val="1260"/>
              </a:lnSpc>
            </a:pPr>
            <a:r>
              <a:rPr lang="en-US" b="true" sz="900" i="true" u="sng">
                <a:solidFill>
                  <a:srgbClr val="000000"/>
                </a:solidFill>
                <a:latin typeface="Roboto Bold Italics"/>
                <a:ea typeface="Roboto Bold Italics"/>
                <a:cs typeface="Roboto Bold Italics"/>
                <a:sym typeface="Roboto Bold Italics"/>
                <a:hlinkClick r:id="rId7" tooltip="https://www.zotero.org/google-docs/?rj8UPg"/>
              </a:rPr>
              <a:t>[8] Keeler, «Keeler International Catalogue». Accedido: 19 de septiembre de 2026. [En línea]. Disponible en: https://blogs.hsjda.es/electromedicina/wp-content/uploads/sites/10/2019/05/04-04-027-000-09-C00001-Keeler-2009-International-Catalogue.pdf </a:t>
            </a:r>
          </a:p>
          <a:p>
            <a:pPr algn="l">
              <a:lnSpc>
                <a:spcPts val="1260"/>
              </a:lnSpc>
              <a:spcBef>
                <a:spcPct val="0"/>
              </a:spcBef>
            </a:pPr>
            <a:r>
              <a:rPr lang="en-US" b="true" sz="900" i="true" u="sng">
                <a:solidFill>
                  <a:srgbClr val="000000"/>
                </a:solidFill>
                <a:latin typeface="Roboto Bold Italics"/>
                <a:ea typeface="Roboto Bold Italics"/>
                <a:cs typeface="Roboto Bold Italics"/>
                <a:sym typeface="Roboto Bold Italics"/>
                <a:hlinkClick r:id="rId8" tooltip="https://www.zotero.org/google-docs/?rj8UPg"/>
              </a:rPr>
              <a:t>[9] Riester, «Catálogo de productos para cuidado». Accedido: 19 de septiembre de 2026. [En línea]. Disponible en: http://www.promedica.com.mx/pdf/representaciones/riester.pdf </a:t>
            </a:r>
          </a:p>
          <a:p>
            <a:pPr algn="l">
              <a:lnSpc>
                <a:spcPts val="1260"/>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11156230" y="1918615"/>
            <a:ext cx="4917820" cy="3717180"/>
          </a:xfrm>
          <a:custGeom>
            <a:avLst/>
            <a:gdLst/>
            <a:ahLst/>
            <a:cxnLst/>
            <a:rect r="r" b="b" t="t" l="l"/>
            <a:pathLst>
              <a:path h="3717180" w="4917820">
                <a:moveTo>
                  <a:pt x="0" y="0"/>
                </a:moveTo>
                <a:lnTo>
                  <a:pt x="4917819" y="0"/>
                </a:lnTo>
                <a:lnTo>
                  <a:pt x="4917819" y="3717180"/>
                </a:lnTo>
                <a:lnTo>
                  <a:pt x="0" y="3717180"/>
                </a:lnTo>
                <a:lnTo>
                  <a:pt x="0" y="0"/>
                </a:lnTo>
                <a:close/>
              </a:path>
            </a:pathLst>
          </a:custGeom>
          <a:blipFill>
            <a:blip r:embed="rId2"/>
            <a:stretch>
              <a:fillRect l="0" t="0" r="0" b="0"/>
            </a:stretch>
          </a:blipFill>
        </p:spPr>
      </p:sp>
      <p:sp>
        <p:nvSpPr>
          <p:cNvPr name="Freeform 3" id="3"/>
          <p:cNvSpPr/>
          <p:nvPr/>
        </p:nvSpPr>
        <p:spPr>
          <a:xfrm flipH="false" flipV="false" rot="0">
            <a:off x="2752214" y="5253358"/>
            <a:ext cx="1866477" cy="3718334"/>
          </a:xfrm>
          <a:custGeom>
            <a:avLst/>
            <a:gdLst/>
            <a:ahLst/>
            <a:cxnLst/>
            <a:rect r="r" b="b" t="t" l="l"/>
            <a:pathLst>
              <a:path h="3718334" w="1866477">
                <a:moveTo>
                  <a:pt x="0" y="0"/>
                </a:moveTo>
                <a:lnTo>
                  <a:pt x="1866476" y="0"/>
                </a:lnTo>
                <a:lnTo>
                  <a:pt x="1866476" y="3718334"/>
                </a:lnTo>
                <a:lnTo>
                  <a:pt x="0" y="3718334"/>
                </a:lnTo>
                <a:lnTo>
                  <a:pt x="0" y="0"/>
                </a:lnTo>
                <a:close/>
              </a:path>
            </a:pathLst>
          </a:custGeom>
          <a:blipFill>
            <a:blip r:embed="rId3"/>
            <a:stretch>
              <a:fillRect l="0" t="0" r="0" b="0"/>
            </a:stretch>
          </a:blipFill>
        </p:spPr>
      </p:sp>
      <p:sp>
        <p:nvSpPr>
          <p:cNvPr name="Freeform 4" id="4"/>
          <p:cNvSpPr/>
          <p:nvPr/>
        </p:nvSpPr>
        <p:spPr>
          <a:xfrm flipH="false" flipV="false" rot="0">
            <a:off x="5147524" y="5298549"/>
            <a:ext cx="3673143" cy="3673143"/>
          </a:xfrm>
          <a:custGeom>
            <a:avLst/>
            <a:gdLst/>
            <a:ahLst/>
            <a:cxnLst/>
            <a:rect r="r" b="b" t="t" l="l"/>
            <a:pathLst>
              <a:path h="3673143" w="3673143">
                <a:moveTo>
                  <a:pt x="0" y="0"/>
                </a:moveTo>
                <a:lnTo>
                  <a:pt x="3673143" y="0"/>
                </a:lnTo>
                <a:lnTo>
                  <a:pt x="3673143" y="3673143"/>
                </a:lnTo>
                <a:lnTo>
                  <a:pt x="0" y="3673143"/>
                </a:lnTo>
                <a:lnTo>
                  <a:pt x="0" y="0"/>
                </a:lnTo>
                <a:close/>
              </a:path>
            </a:pathLst>
          </a:custGeom>
          <a:blipFill>
            <a:blip r:embed="rId4"/>
            <a:stretch>
              <a:fillRect l="0" t="0" r="0" b="0"/>
            </a:stretch>
          </a:blipFill>
        </p:spPr>
      </p:sp>
      <p:grpSp>
        <p:nvGrpSpPr>
          <p:cNvPr name="Group 5" id="5"/>
          <p:cNvGrpSpPr/>
          <p:nvPr/>
        </p:nvGrpSpPr>
        <p:grpSpPr>
          <a:xfrm rot="0">
            <a:off x="1248324" y="1657549"/>
            <a:ext cx="6441535" cy="3010532"/>
            <a:chOff x="0" y="0"/>
            <a:chExt cx="8588713" cy="4014042"/>
          </a:xfrm>
        </p:grpSpPr>
        <p:sp>
          <p:nvSpPr>
            <p:cNvPr name="Freeform 6" id="6"/>
            <p:cNvSpPr/>
            <p:nvPr/>
          </p:nvSpPr>
          <p:spPr>
            <a:xfrm flipH="false" flipV="false" rot="0">
              <a:off x="127040" y="28135"/>
              <a:ext cx="3740354" cy="3740354"/>
            </a:xfrm>
            <a:custGeom>
              <a:avLst/>
              <a:gdLst/>
              <a:ahLst/>
              <a:cxnLst/>
              <a:rect r="r" b="b" t="t" l="l"/>
              <a:pathLst>
                <a:path h="3740354" w="3740354">
                  <a:moveTo>
                    <a:pt x="0" y="0"/>
                  </a:moveTo>
                  <a:lnTo>
                    <a:pt x="3740354" y="0"/>
                  </a:lnTo>
                  <a:lnTo>
                    <a:pt x="3740354" y="3740354"/>
                  </a:lnTo>
                  <a:lnTo>
                    <a:pt x="0" y="3740354"/>
                  </a:lnTo>
                  <a:lnTo>
                    <a:pt x="0" y="0"/>
                  </a:lnTo>
                  <a:close/>
                </a:path>
              </a:pathLst>
            </a:custGeom>
            <a:blipFill>
              <a:blip r:embed="rId5"/>
              <a:stretch>
                <a:fillRect l="0" t="-1947" r="0" b="-1947"/>
              </a:stretch>
            </a:blipFill>
          </p:spPr>
        </p:sp>
        <p:sp>
          <p:nvSpPr>
            <p:cNvPr name="Freeform 7" id="7"/>
            <p:cNvSpPr/>
            <p:nvPr/>
          </p:nvSpPr>
          <p:spPr>
            <a:xfrm flipH="false" flipV="false" rot="0">
              <a:off x="4630862" y="0"/>
              <a:ext cx="3671917" cy="3796624"/>
            </a:xfrm>
            <a:custGeom>
              <a:avLst/>
              <a:gdLst/>
              <a:ahLst/>
              <a:cxnLst/>
              <a:rect r="r" b="b" t="t" l="l"/>
              <a:pathLst>
                <a:path h="3796624" w="3671917">
                  <a:moveTo>
                    <a:pt x="0" y="0"/>
                  </a:moveTo>
                  <a:lnTo>
                    <a:pt x="3671917" y="0"/>
                  </a:lnTo>
                  <a:lnTo>
                    <a:pt x="3671917" y="3796624"/>
                  </a:lnTo>
                  <a:lnTo>
                    <a:pt x="0" y="3796624"/>
                  </a:lnTo>
                  <a:lnTo>
                    <a:pt x="0" y="0"/>
                  </a:lnTo>
                  <a:close/>
                </a:path>
              </a:pathLst>
            </a:custGeom>
            <a:blipFill>
              <a:blip r:embed="rId6"/>
              <a:stretch>
                <a:fillRect l="0" t="0" r="0" b="0"/>
              </a:stretch>
            </a:blipFill>
          </p:spPr>
        </p:sp>
        <p:sp>
          <p:nvSpPr>
            <p:cNvPr name="TextBox 8" id="8"/>
            <p:cNvSpPr txBox="true"/>
            <p:nvPr/>
          </p:nvSpPr>
          <p:spPr>
            <a:xfrm rot="0">
              <a:off x="0" y="3822272"/>
              <a:ext cx="3981053" cy="191770"/>
            </a:xfrm>
            <a:prstGeom prst="rect">
              <a:avLst/>
            </a:prstGeom>
          </p:spPr>
          <p:txBody>
            <a:bodyPr anchor="t" rtlCol="false" tIns="0" lIns="0" bIns="0" rIns="0">
              <a:spAutoFit/>
            </a:bodyPr>
            <a:lstStyle/>
            <a:p>
              <a:pPr algn="ctr">
                <a:lnSpc>
                  <a:spcPts val="1260"/>
                </a:lnSpc>
                <a:spcBef>
                  <a:spcPct val="0"/>
                </a:spcBef>
              </a:pPr>
              <a:r>
                <a:rPr lang="en-US" b="true" sz="900" i="true">
                  <a:solidFill>
                    <a:srgbClr val="000000"/>
                  </a:solidFill>
                  <a:latin typeface="Roboto Bold Italics"/>
                  <a:ea typeface="Roboto Bold Italics"/>
                  <a:cs typeface="Roboto Bold Italics"/>
                  <a:sym typeface="Roboto Bold Italics"/>
                </a:rPr>
                <a:t>Fig. 17. Cámara portátil de fondo de ojo RC350 de Vistel [9]</a:t>
              </a:r>
            </a:p>
          </p:txBody>
        </p:sp>
        <p:sp>
          <p:nvSpPr>
            <p:cNvPr name="TextBox 9" id="9"/>
            <p:cNvSpPr txBox="true"/>
            <p:nvPr/>
          </p:nvSpPr>
          <p:spPr>
            <a:xfrm rot="0">
              <a:off x="4344929" y="3822272"/>
              <a:ext cx="4243784" cy="191770"/>
            </a:xfrm>
            <a:prstGeom prst="rect">
              <a:avLst/>
            </a:prstGeom>
          </p:spPr>
          <p:txBody>
            <a:bodyPr anchor="t" rtlCol="false" tIns="0" lIns="0" bIns="0" rIns="0">
              <a:spAutoFit/>
            </a:bodyPr>
            <a:lstStyle/>
            <a:p>
              <a:pPr algn="ctr">
                <a:lnSpc>
                  <a:spcPts val="1260"/>
                </a:lnSpc>
                <a:spcBef>
                  <a:spcPct val="0"/>
                </a:spcBef>
              </a:pPr>
              <a:r>
                <a:rPr lang="en-US" b="true" sz="900" i="true">
                  <a:solidFill>
                    <a:srgbClr val="000000"/>
                  </a:solidFill>
                  <a:latin typeface="Roboto Bold Italics"/>
                  <a:ea typeface="Roboto Bold Italics"/>
                  <a:cs typeface="Roboto Bold Italics"/>
                  <a:sym typeface="Roboto Bold Italics"/>
                </a:rPr>
                <a:t>Fig. 18. Cámara automática de fondo de ojo RX350 de Vistel [9]</a:t>
              </a:r>
            </a:p>
          </p:txBody>
        </p:sp>
      </p:grpSp>
      <p:sp>
        <p:nvSpPr>
          <p:cNvPr name="TextBox 10" id="10"/>
          <p:cNvSpPr txBox="true"/>
          <p:nvPr/>
        </p:nvSpPr>
        <p:spPr>
          <a:xfrm rot="0">
            <a:off x="11614473" y="5616745"/>
            <a:ext cx="4001333" cy="148590"/>
          </a:xfrm>
          <a:prstGeom prst="rect">
            <a:avLst/>
          </a:prstGeom>
        </p:spPr>
        <p:txBody>
          <a:bodyPr anchor="t" rtlCol="false" tIns="0" lIns="0" bIns="0" rIns="0">
            <a:spAutoFit/>
          </a:bodyPr>
          <a:lstStyle/>
          <a:p>
            <a:pPr algn="ctr">
              <a:lnSpc>
                <a:spcPts val="1260"/>
              </a:lnSpc>
              <a:spcBef>
                <a:spcPct val="0"/>
              </a:spcBef>
            </a:pPr>
            <a:r>
              <a:rPr lang="en-US" b="true" sz="900" i="true">
                <a:solidFill>
                  <a:srgbClr val="000000"/>
                </a:solidFill>
                <a:latin typeface="Roboto Bold Italics"/>
                <a:ea typeface="Roboto Bold Italics"/>
                <a:cs typeface="Roboto Bold Italics"/>
                <a:sym typeface="Roboto Bold Italics"/>
              </a:rPr>
              <a:t>Fig. 19. Resultados del análisis de imágenes retinales mediante RetinaLyze [11]</a:t>
            </a:r>
          </a:p>
        </p:txBody>
      </p:sp>
      <p:sp>
        <p:nvSpPr>
          <p:cNvPr name="TextBox 11" id="11"/>
          <p:cNvSpPr txBox="true"/>
          <p:nvPr/>
        </p:nvSpPr>
        <p:spPr>
          <a:xfrm rot="0">
            <a:off x="2632089" y="9072349"/>
            <a:ext cx="2106726" cy="300989"/>
          </a:xfrm>
          <a:prstGeom prst="rect">
            <a:avLst/>
          </a:prstGeom>
        </p:spPr>
        <p:txBody>
          <a:bodyPr anchor="t" rtlCol="false" tIns="0" lIns="0" bIns="0" rIns="0">
            <a:spAutoFit/>
          </a:bodyPr>
          <a:lstStyle/>
          <a:p>
            <a:pPr algn="ctr">
              <a:lnSpc>
                <a:spcPts val="1260"/>
              </a:lnSpc>
              <a:spcBef>
                <a:spcPct val="0"/>
              </a:spcBef>
            </a:pPr>
            <a:r>
              <a:rPr lang="en-US" b="true" sz="900" i="true">
                <a:solidFill>
                  <a:srgbClr val="000000"/>
                </a:solidFill>
                <a:latin typeface="Roboto Bold Italics"/>
                <a:ea typeface="Roboto Bold Italics"/>
                <a:cs typeface="Roboto Bold Italics"/>
                <a:sym typeface="Roboto Bold Italics"/>
              </a:rPr>
              <a:t>Fig. 20. Interfaz de análisis de imágenes retinales mediante Cybersight AI  [12]</a:t>
            </a:r>
          </a:p>
        </p:txBody>
      </p:sp>
      <p:sp>
        <p:nvSpPr>
          <p:cNvPr name="TextBox 12" id="12"/>
          <p:cNvSpPr txBox="true"/>
          <p:nvPr/>
        </p:nvSpPr>
        <p:spPr>
          <a:xfrm rot="0">
            <a:off x="5354458" y="9072349"/>
            <a:ext cx="3466209" cy="300989"/>
          </a:xfrm>
          <a:prstGeom prst="rect">
            <a:avLst/>
          </a:prstGeom>
        </p:spPr>
        <p:txBody>
          <a:bodyPr anchor="t" rtlCol="false" tIns="0" lIns="0" bIns="0" rIns="0">
            <a:spAutoFit/>
          </a:bodyPr>
          <a:lstStyle/>
          <a:p>
            <a:pPr algn="ctr">
              <a:lnSpc>
                <a:spcPts val="1260"/>
              </a:lnSpc>
              <a:spcBef>
                <a:spcPct val="0"/>
              </a:spcBef>
            </a:pPr>
            <a:r>
              <a:rPr lang="en-US" b="true" sz="900" i="true">
                <a:solidFill>
                  <a:srgbClr val="000000"/>
                </a:solidFill>
                <a:latin typeface="Roboto Bold Italics"/>
                <a:ea typeface="Roboto Bold Italics"/>
                <a:cs typeface="Roboto Bold Italics"/>
                <a:sym typeface="Roboto Bold Italics"/>
              </a:rPr>
              <a:t>Fig. 21. Captura de imágenes de fondo de ojo mediante Cybersight en un entorno clínico [12]</a:t>
            </a:r>
          </a:p>
        </p:txBody>
      </p:sp>
      <p:sp>
        <p:nvSpPr>
          <p:cNvPr name="TextBox 13" id="13"/>
          <p:cNvSpPr txBox="true"/>
          <p:nvPr/>
        </p:nvSpPr>
        <p:spPr>
          <a:xfrm rot="0">
            <a:off x="7092315" y="359814"/>
            <a:ext cx="4103370" cy="455296"/>
          </a:xfrm>
          <a:prstGeom prst="rect">
            <a:avLst/>
          </a:prstGeom>
        </p:spPr>
        <p:txBody>
          <a:bodyPr anchor="t" rtlCol="false" tIns="0" lIns="0" bIns="0" rIns="0">
            <a:spAutoFit/>
          </a:bodyPr>
          <a:lstStyle/>
          <a:p>
            <a:pPr algn="ctr">
              <a:lnSpc>
                <a:spcPts val="3779"/>
              </a:lnSpc>
              <a:spcBef>
                <a:spcPct val="0"/>
              </a:spcBef>
            </a:pPr>
            <a:r>
              <a:rPr lang="en-US" sz="2699">
                <a:solidFill>
                  <a:srgbClr val="000000"/>
                </a:solidFill>
                <a:latin typeface="League Spartan"/>
                <a:ea typeface="League Spartan"/>
                <a:cs typeface="League Spartan"/>
                <a:sym typeface="League Spartan"/>
              </a:rPr>
              <a:t>Páginas de Fabricantes</a:t>
            </a:r>
          </a:p>
        </p:txBody>
      </p:sp>
      <p:sp>
        <p:nvSpPr>
          <p:cNvPr name="TextBox 14" id="14"/>
          <p:cNvSpPr txBox="true"/>
          <p:nvPr/>
        </p:nvSpPr>
        <p:spPr>
          <a:xfrm rot="0">
            <a:off x="3932596" y="1060123"/>
            <a:ext cx="1072991" cy="332740"/>
          </a:xfrm>
          <a:prstGeom prst="rect">
            <a:avLst/>
          </a:prstGeom>
        </p:spPr>
        <p:txBody>
          <a:bodyPr anchor="t" rtlCol="false" tIns="0" lIns="0" bIns="0" rIns="0">
            <a:spAutoFit/>
          </a:bodyPr>
          <a:lstStyle/>
          <a:p>
            <a:pPr algn="ctr">
              <a:lnSpc>
                <a:spcPts val="2659"/>
              </a:lnSpc>
              <a:spcBef>
                <a:spcPct val="0"/>
              </a:spcBef>
            </a:pPr>
            <a:r>
              <a:rPr lang="en-US" b="true" sz="1899" i="true">
                <a:solidFill>
                  <a:srgbClr val="000000"/>
                </a:solidFill>
                <a:latin typeface="Roboto Bold Italics"/>
                <a:ea typeface="Roboto Bold Italics"/>
                <a:cs typeface="Roboto Bold Italics"/>
                <a:sym typeface="Roboto Bold Italics"/>
              </a:rPr>
              <a:t>Vistel [10]</a:t>
            </a:r>
          </a:p>
        </p:txBody>
      </p:sp>
      <p:sp>
        <p:nvSpPr>
          <p:cNvPr name="TextBox 15" id="15"/>
          <p:cNvSpPr txBox="true"/>
          <p:nvPr/>
        </p:nvSpPr>
        <p:spPr>
          <a:xfrm rot="0">
            <a:off x="12807717" y="1385461"/>
            <a:ext cx="1614845" cy="332740"/>
          </a:xfrm>
          <a:prstGeom prst="rect">
            <a:avLst/>
          </a:prstGeom>
        </p:spPr>
        <p:txBody>
          <a:bodyPr anchor="t" rtlCol="false" tIns="0" lIns="0" bIns="0" rIns="0">
            <a:spAutoFit/>
          </a:bodyPr>
          <a:lstStyle/>
          <a:p>
            <a:pPr algn="ctr">
              <a:lnSpc>
                <a:spcPts val="2659"/>
              </a:lnSpc>
              <a:spcBef>
                <a:spcPct val="0"/>
              </a:spcBef>
            </a:pPr>
            <a:r>
              <a:rPr lang="en-US" b="true" sz="1899" i="true">
                <a:solidFill>
                  <a:srgbClr val="000000"/>
                </a:solidFill>
                <a:latin typeface="Roboto Bold Italics"/>
                <a:ea typeface="Roboto Bold Italics"/>
                <a:cs typeface="Roboto Bold Italics"/>
                <a:sym typeface="Roboto Bold Italics"/>
              </a:rPr>
              <a:t>Cybersight [11]</a:t>
            </a:r>
          </a:p>
        </p:txBody>
      </p:sp>
      <p:sp>
        <p:nvSpPr>
          <p:cNvPr name="TextBox 16" id="16"/>
          <p:cNvSpPr txBox="true"/>
          <p:nvPr/>
        </p:nvSpPr>
        <p:spPr>
          <a:xfrm rot="0">
            <a:off x="5005662" y="4803236"/>
            <a:ext cx="1614845" cy="332740"/>
          </a:xfrm>
          <a:prstGeom prst="rect">
            <a:avLst/>
          </a:prstGeom>
        </p:spPr>
        <p:txBody>
          <a:bodyPr anchor="t" rtlCol="false" tIns="0" lIns="0" bIns="0" rIns="0">
            <a:spAutoFit/>
          </a:bodyPr>
          <a:lstStyle/>
          <a:p>
            <a:pPr algn="ctr">
              <a:lnSpc>
                <a:spcPts val="2659"/>
              </a:lnSpc>
              <a:spcBef>
                <a:spcPct val="0"/>
              </a:spcBef>
            </a:pPr>
            <a:r>
              <a:rPr lang="en-US" b="true" sz="1899" i="true">
                <a:solidFill>
                  <a:srgbClr val="000000"/>
                </a:solidFill>
                <a:latin typeface="Roboto Bold Italics"/>
                <a:ea typeface="Roboto Bold Italics"/>
                <a:cs typeface="Roboto Bold Italics"/>
                <a:sym typeface="Roboto Bold Italics"/>
              </a:rPr>
              <a:t>Cybersight [12]</a:t>
            </a:r>
          </a:p>
        </p:txBody>
      </p:sp>
      <p:sp>
        <p:nvSpPr>
          <p:cNvPr name="TextBox 17" id="17"/>
          <p:cNvSpPr txBox="true"/>
          <p:nvPr/>
        </p:nvSpPr>
        <p:spPr>
          <a:xfrm rot="0">
            <a:off x="7665" y="9815831"/>
            <a:ext cx="13952860" cy="623569"/>
          </a:xfrm>
          <a:prstGeom prst="rect">
            <a:avLst/>
          </a:prstGeom>
        </p:spPr>
        <p:txBody>
          <a:bodyPr anchor="t" rtlCol="false" tIns="0" lIns="0" bIns="0" rIns="0">
            <a:spAutoFit/>
          </a:bodyPr>
          <a:lstStyle/>
          <a:p>
            <a:pPr algn="l">
              <a:lnSpc>
                <a:spcPts val="1260"/>
              </a:lnSpc>
              <a:spcBef>
                <a:spcPct val="0"/>
              </a:spcBef>
            </a:pPr>
            <a:r>
              <a:rPr lang="en-US" b="true" sz="900" i="true" u="sng">
                <a:solidFill>
                  <a:srgbClr val="000000"/>
                </a:solidFill>
                <a:latin typeface="Roboto Bold Italics"/>
                <a:ea typeface="Roboto Bold Italics"/>
                <a:cs typeface="Roboto Bold Italics"/>
                <a:sym typeface="Roboto Bold Italics"/>
                <a:hlinkClick r:id="rId7" tooltip="https://www.zotero.org/google-docs/?rj8UPg"/>
              </a:rPr>
              <a:t>[10] «Vistel--Medical Image Analysis». Accedido: 19 de septiembre de 2026. [En línea]. Disponible en: https://vistel.cn/ </a:t>
            </a:r>
          </a:p>
          <a:p>
            <a:pPr algn="l">
              <a:lnSpc>
                <a:spcPts val="1260"/>
              </a:lnSpc>
              <a:spcBef>
                <a:spcPct val="0"/>
              </a:spcBef>
            </a:pPr>
            <a:r>
              <a:rPr lang="en-US" b="true" sz="900" i="true" u="sng">
                <a:solidFill>
                  <a:srgbClr val="000000"/>
                </a:solidFill>
                <a:latin typeface="Roboto Bold Italics"/>
                <a:ea typeface="Roboto Bold Italics"/>
                <a:cs typeface="Roboto Bold Italics"/>
                <a:sym typeface="Roboto Bold Italics"/>
                <a:hlinkClick r:id="rId8" tooltip="https://www.zotero.org/google-docs/?rj8UPg"/>
              </a:rPr>
              <a:t>[11] «Faster, safer eye screenings - RetinaLyze.com». Accedido: 19 de septiembre de 2026. [En línea]. Disponible en: https://retinalyze.com/ </a:t>
            </a:r>
          </a:p>
          <a:p>
            <a:pPr algn="l">
              <a:lnSpc>
                <a:spcPts val="1260"/>
              </a:lnSpc>
              <a:spcBef>
                <a:spcPct val="0"/>
              </a:spcBef>
            </a:pPr>
            <a:r>
              <a:rPr lang="en-US" b="true" sz="900" i="true" u="sng">
                <a:solidFill>
                  <a:srgbClr val="000000"/>
                </a:solidFill>
                <a:latin typeface="Roboto Bold Italics"/>
                <a:ea typeface="Roboto Bold Italics"/>
                <a:cs typeface="Roboto Bold Italics"/>
                <a:sym typeface="Roboto Bold Italics"/>
                <a:hlinkClick r:id="rId9" tooltip="https://www.zotero.org/google-docs/?rj8UPg"/>
              </a:rPr>
              <a:t>[12] «Ophthalmology Training and Mentorship», Cybersight. Accedido: 19 de septiembre de 2026. [En línea]. Disponible en: https://cybersight.org/ </a:t>
            </a:r>
          </a:p>
          <a:p>
            <a:pPr algn="l">
              <a:lnSpc>
                <a:spcPts val="1400"/>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3092715" y="6172200"/>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4863531" y="221509"/>
            <a:ext cx="4305921" cy="3622715"/>
          </a:xfrm>
          <a:custGeom>
            <a:avLst/>
            <a:gdLst/>
            <a:ahLst/>
            <a:cxnLst/>
            <a:rect r="r" b="b" t="t" l="l"/>
            <a:pathLst>
              <a:path h="3622715" w="4305921">
                <a:moveTo>
                  <a:pt x="0" y="0"/>
                </a:moveTo>
                <a:lnTo>
                  <a:pt x="4305921" y="0"/>
                </a:lnTo>
                <a:lnTo>
                  <a:pt x="4305921" y="3622715"/>
                </a:lnTo>
                <a:lnTo>
                  <a:pt x="0" y="3622715"/>
                </a:lnTo>
                <a:lnTo>
                  <a:pt x="0" y="0"/>
                </a:lnTo>
                <a:close/>
              </a:path>
            </a:pathLst>
          </a:custGeom>
          <a:blipFill>
            <a:blip r:embed="rId3"/>
            <a:stretch>
              <a:fillRect l="0" t="0" r="0" b="0"/>
            </a:stretch>
          </a:blipFill>
        </p:spPr>
      </p:sp>
      <p:grpSp>
        <p:nvGrpSpPr>
          <p:cNvPr name="Group 4" id="4"/>
          <p:cNvGrpSpPr/>
          <p:nvPr/>
        </p:nvGrpSpPr>
        <p:grpSpPr>
          <a:xfrm rot="0">
            <a:off x="3424469" y="4160638"/>
            <a:ext cx="11439061" cy="1965723"/>
            <a:chOff x="0" y="0"/>
            <a:chExt cx="2486826" cy="427344"/>
          </a:xfrm>
        </p:grpSpPr>
        <p:sp>
          <p:nvSpPr>
            <p:cNvPr name="Freeform 5" id="5"/>
            <p:cNvSpPr/>
            <p:nvPr/>
          </p:nvSpPr>
          <p:spPr>
            <a:xfrm flipH="false" flipV="false" rot="0">
              <a:off x="0" y="0"/>
              <a:ext cx="2486826" cy="427344"/>
            </a:xfrm>
            <a:custGeom>
              <a:avLst/>
              <a:gdLst/>
              <a:ahLst/>
              <a:cxnLst/>
              <a:rect r="r" b="b" t="t" l="l"/>
              <a:pathLst>
                <a:path h="427344" w="2486826">
                  <a:moveTo>
                    <a:pt x="27072" y="0"/>
                  </a:moveTo>
                  <a:lnTo>
                    <a:pt x="2459754" y="0"/>
                  </a:lnTo>
                  <a:cubicBezTo>
                    <a:pt x="2466934" y="0"/>
                    <a:pt x="2473820" y="2852"/>
                    <a:pt x="2478897" y="7929"/>
                  </a:cubicBezTo>
                  <a:cubicBezTo>
                    <a:pt x="2483974" y="13006"/>
                    <a:pt x="2486826" y="19892"/>
                    <a:pt x="2486826" y="27072"/>
                  </a:cubicBezTo>
                  <a:lnTo>
                    <a:pt x="2486826" y="400272"/>
                  </a:lnTo>
                  <a:cubicBezTo>
                    <a:pt x="2486826" y="407452"/>
                    <a:pt x="2483974" y="414338"/>
                    <a:pt x="2478897" y="419415"/>
                  </a:cubicBezTo>
                  <a:cubicBezTo>
                    <a:pt x="2473820" y="424492"/>
                    <a:pt x="2466934" y="427344"/>
                    <a:pt x="2459754" y="427344"/>
                  </a:cubicBezTo>
                  <a:lnTo>
                    <a:pt x="27072" y="427344"/>
                  </a:lnTo>
                  <a:cubicBezTo>
                    <a:pt x="19892" y="427344"/>
                    <a:pt x="13006" y="424492"/>
                    <a:pt x="7929" y="419415"/>
                  </a:cubicBezTo>
                  <a:cubicBezTo>
                    <a:pt x="2852" y="414338"/>
                    <a:pt x="0" y="407452"/>
                    <a:pt x="0" y="400272"/>
                  </a:cubicBezTo>
                  <a:lnTo>
                    <a:pt x="0" y="27072"/>
                  </a:lnTo>
                  <a:cubicBezTo>
                    <a:pt x="0" y="19892"/>
                    <a:pt x="2852" y="13006"/>
                    <a:pt x="7929" y="7929"/>
                  </a:cubicBezTo>
                  <a:cubicBezTo>
                    <a:pt x="13006" y="2852"/>
                    <a:pt x="19892" y="0"/>
                    <a:pt x="27072" y="0"/>
                  </a:cubicBezTo>
                  <a:close/>
                </a:path>
              </a:pathLst>
            </a:custGeom>
            <a:solidFill>
              <a:srgbClr val="FFFFFF"/>
            </a:solidFill>
            <a:ln w="171450" cap="rnd">
              <a:solidFill>
                <a:srgbClr val="506FA7"/>
              </a:solidFill>
              <a:prstDash val="solid"/>
              <a:round/>
            </a:ln>
          </p:spPr>
        </p:sp>
        <p:sp>
          <p:nvSpPr>
            <p:cNvPr name="TextBox 6" id="6"/>
            <p:cNvSpPr txBox="true"/>
            <p:nvPr/>
          </p:nvSpPr>
          <p:spPr>
            <a:xfrm>
              <a:off x="0" y="-47625"/>
              <a:ext cx="2486826" cy="474969"/>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6700192">
            <a:off x="-1573595" y="200347"/>
            <a:ext cx="4120659" cy="4003907"/>
          </a:xfrm>
          <a:custGeom>
            <a:avLst/>
            <a:gdLst/>
            <a:ahLst/>
            <a:cxnLst/>
            <a:rect r="r" b="b" t="t" l="l"/>
            <a:pathLst>
              <a:path h="4003907" w="4120659">
                <a:moveTo>
                  <a:pt x="0" y="0"/>
                </a:moveTo>
                <a:lnTo>
                  <a:pt x="4120659" y="0"/>
                </a:lnTo>
                <a:lnTo>
                  <a:pt x="4120659" y="4003907"/>
                </a:lnTo>
                <a:lnTo>
                  <a:pt x="0" y="4003907"/>
                </a:lnTo>
                <a:lnTo>
                  <a:pt x="0" y="0"/>
                </a:lnTo>
                <a:close/>
              </a:path>
            </a:pathLst>
          </a:custGeom>
          <a:blipFill>
            <a:blip r:embed="rId4"/>
            <a:stretch>
              <a:fillRect l="0" t="0" r="0" b="0"/>
            </a:stretch>
          </a:blipFill>
        </p:spPr>
      </p:sp>
      <p:sp>
        <p:nvSpPr>
          <p:cNvPr name="TextBox 8" id="8"/>
          <p:cNvSpPr txBox="true"/>
          <p:nvPr/>
        </p:nvSpPr>
        <p:spPr>
          <a:xfrm rot="0">
            <a:off x="3712463" y="4722764"/>
            <a:ext cx="10863074" cy="1155797"/>
          </a:xfrm>
          <a:prstGeom prst="rect">
            <a:avLst/>
          </a:prstGeom>
        </p:spPr>
        <p:txBody>
          <a:bodyPr anchor="t" rtlCol="false" tIns="0" lIns="0" bIns="0" rIns="0">
            <a:spAutoFit/>
          </a:bodyPr>
          <a:lstStyle/>
          <a:p>
            <a:pPr algn="ctr">
              <a:lnSpc>
                <a:spcPts val="8141"/>
              </a:lnSpc>
            </a:pPr>
            <a:r>
              <a:rPr lang="en-US" sz="9691" b="true">
                <a:solidFill>
                  <a:srgbClr val="FFD088"/>
                </a:solidFill>
                <a:latin typeface="Roboto Bold"/>
                <a:ea typeface="Roboto Bold"/>
                <a:cs typeface="Roboto Bold"/>
                <a:sym typeface="Roboto Bold"/>
              </a:rPr>
              <a:t>Lista de exigencias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graphicFrame>
        <p:nvGraphicFramePr>
          <p:cNvPr name="Object 2" id="2"/>
          <p:cNvGraphicFramePr/>
          <p:nvPr/>
        </p:nvGraphicFramePr>
        <p:xfrm>
          <a:off x="207695" y="1438275"/>
          <a:ext cx="18869025" cy="5448300"/>
        </p:xfrm>
        <a:graphic>
          <a:graphicData uri="http://schemas.openxmlformats.org/presentationml/2006/ole">
            <p:oleObj imgW="22631400" imgH="92202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207695" y="9753490"/>
            <a:ext cx="17924533" cy="195326"/>
          </a:xfrm>
          <a:prstGeom prst="rect">
            <a:avLst/>
          </a:prstGeom>
        </p:spPr>
        <p:txBody>
          <a:bodyPr anchor="t" rtlCol="false" tIns="0" lIns="0" bIns="0" rIns="0">
            <a:spAutoFit/>
          </a:bodyPr>
          <a:lstStyle/>
          <a:p>
            <a:pPr algn="l">
              <a:lnSpc>
                <a:spcPts val="1507"/>
              </a:lnSpc>
              <a:spcBef>
                <a:spcPct val="0"/>
              </a:spcBef>
            </a:pPr>
            <a:r>
              <a:rPr lang="en-US" sz="1100">
                <a:solidFill>
                  <a:srgbClr val="000000"/>
                </a:solidFill>
                <a:latin typeface="Roboto"/>
                <a:ea typeface="Roboto"/>
                <a:cs typeface="Roboto"/>
                <a:sym typeface="Roboto"/>
              </a:rPr>
              <a:t>[13] International Organization for Standardization, Ophthalmic instruments — Fundamental requirements and test methods — Part 2: Light hazard protection, ISO Standard 15004-2:2024, Dec. 2024. [Online]. Available: https://www.iso.org/es/contents/data/standard/07/99/79919.html </a:t>
            </a:r>
          </a:p>
        </p:txBody>
      </p:sp>
      <p:sp>
        <p:nvSpPr>
          <p:cNvPr name="TextBox 4" id="4"/>
          <p:cNvSpPr txBox="true"/>
          <p:nvPr/>
        </p:nvSpPr>
        <p:spPr>
          <a:xfrm rot="0">
            <a:off x="4660636" y="489585"/>
            <a:ext cx="8966729" cy="539115"/>
          </a:xfrm>
          <a:prstGeom prst="rect">
            <a:avLst/>
          </a:prstGeom>
        </p:spPr>
        <p:txBody>
          <a:bodyPr anchor="t" rtlCol="false" tIns="0" lIns="0" bIns="0" rIns="0">
            <a:spAutoFit/>
          </a:bodyPr>
          <a:lstStyle/>
          <a:p>
            <a:pPr algn="ctr">
              <a:lnSpc>
                <a:spcPts val="3779"/>
              </a:lnSpc>
            </a:pPr>
            <a:r>
              <a:rPr lang="en-US" sz="4500" b="true">
                <a:solidFill>
                  <a:srgbClr val="FFD088"/>
                </a:solidFill>
                <a:latin typeface="Roboto Bold"/>
                <a:ea typeface="Roboto Bold"/>
                <a:cs typeface="Roboto Bold"/>
                <a:sym typeface="Roboto Bold"/>
              </a:rPr>
              <a:t>Lista de exigencias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graphicFrame>
        <p:nvGraphicFramePr>
          <p:cNvPr name="Object 2" id="2"/>
          <p:cNvGraphicFramePr/>
          <p:nvPr/>
        </p:nvGraphicFramePr>
        <p:xfrm>
          <a:off x="220072" y="1184471"/>
          <a:ext cx="18869025" cy="6705600"/>
        </p:xfrm>
        <a:graphic>
          <a:graphicData uri="http://schemas.openxmlformats.org/presentationml/2006/ole">
            <p:oleObj imgW="22631400" imgH="104775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3" id="3"/>
          <p:cNvSpPr txBox="true"/>
          <p:nvPr/>
        </p:nvSpPr>
        <p:spPr>
          <a:xfrm rot="0">
            <a:off x="220072" y="9607943"/>
            <a:ext cx="17554932" cy="572135"/>
          </a:xfrm>
          <a:prstGeom prst="rect">
            <a:avLst/>
          </a:prstGeom>
        </p:spPr>
        <p:txBody>
          <a:bodyPr anchor="t" rtlCol="false" tIns="0" lIns="0" bIns="0" rIns="0">
            <a:spAutoFit/>
          </a:bodyPr>
          <a:lstStyle/>
          <a:p>
            <a:pPr algn="l">
              <a:lnSpc>
                <a:spcPts val="1540"/>
              </a:lnSpc>
              <a:spcBef>
                <a:spcPct val="0"/>
              </a:spcBef>
            </a:pPr>
            <a:r>
              <a:rPr lang="en-US" sz="1100">
                <a:solidFill>
                  <a:srgbClr val="000000"/>
                </a:solidFill>
                <a:latin typeface="Roboto"/>
                <a:ea typeface="Roboto"/>
                <a:cs typeface="Roboto"/>
                <a:sym typeface="Roboto"/>
              </a:rPr>
              <a:t>[14] International Organization for Standardization, Ophthalmic instruments — Fundamental requirements and test methods — Part 2: Light hazard protection, ISO Standard 15004-2:2024, Dec. 2024. [Online]. Available: https://www.iso.org/es/contents/data/standard/07/99/79919.html </a:t>
            </a:r>
          </a:p>
          <a:p>
            <a:pPr algn="l">
              <a:lnSpc>
                <a:spcPts val="1540"/>
              </a:lnSpc>
              <a:spcBef>
                <a:spcPct val="0"/>
              </a:spcBef>
            </a:pPr>
            <a:r>
              <a:rPr lang="en-US" sz="1100">
                <a:solidFill>
                  <a:srgbClr val="000000"/>
                </a:solidFill>
                <a:latin typeface="Roboto"/>
                <a:ea typeface="Roboto"/>
                <a:cs typeface="Roboto"/>
                <a:sym typeface="Roboto"/>
              </a:rPr>
              <a:t>[15] International Organization for Standardization, Medical devices — Application of risk management to medical devices, ISO Standard 14971:2019, Dec. 2019. [Online]. Available: https://www.iso.org/standard/72704.html </a:t>
            </a:r>
          </a:p>
          <a:p>
            <a:pPr algn="l">
              <a:lnSpc>
                <a:spcPts val="1540"/>
              </a:lnSpc>
              <a:spcBef>
                <a:spcPct val="0"/>
              </a:spcBef>
            </a:pPr>
            <a:r>
              <a:rPr lang="en-US" sz="1100">
                <a:solidFill>
                  <a:srgbClr val="000000"/>
                </a:solidFill>
                <a:latin typeface="Roboto"/>
                <a:ea typeface="Roboto"/>
                <a:cs typeface="Roboto"/>
                <a:sym typeface="Roboto"/>
              </a:rPr>
              <a:t>[16] International Organization for Standardization, Basic human body measurements for technological design — Part 1: Body measurement definitions and landmarks, ISO Standard 7250-1:2017, Nov. 2017. [Online]. Available: https://www.iso.org/standard/65246.html </a:t>
            </a:r>
          </a:p>
        </p:txBody>
      </p:sp>
      <p:sp>
        <p:nvSpPr>
          <p:cNvPr name="TextBox 4" id="4"/>
          <p:cNvSpPr txBox="true"/>
          <p:nvPr/>
        </p:nvSpPr>
        <p:spPr>
          <a:xfrm rot="0">
            <a:off x="4660636" y="489585"/>
            <a:ext cx="8966729" cy="539115"/>
          </a:xfrm>
          <a:prstGeom prst="rect">
            <a:avLst/>
          </a:prstGeom>
        </p:spPr>
        <p:txBody>
          <a:bodyPr anchor="t" rtlCol="false" tIns="0" lIns="0" bIns="0" rIns="0">
            <a:spAutoFit/>
          </a:bodyPr>
          <a:lstStyle/>
          <a:p>
            <a:pPr algn="ctr">
              <a:lnSpc>
                <a:spcPts val="3779"/>
              </a:lnSpc>
            </a:pPr>
            <a:r>
              <a:rPr lang="en-US" sz="4500" b="true">
                <a:solidFill>
                  <a:srgbClr val="FFD088"/>
                </a:solidFill>
                <a:latin typeface="Roboto Bold"/>
                <a:ea typeface="Roboto Bold"/>
                <a:cs typeface="Roboto Bold"/>
                <a:sym typeface="Roboto Bold"/>
              </a:rPr>
              <a:t>Lista de exigencias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3092715" y="6172200"/>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2"/>
            <a:stretch>
              <a:fillRect l="0" t="0" r="0" b="0"/>
            </a:stretch>
          </a:blipFill>
        </p:spPr>
      </p:sp>
      <p:sp>
        <p:nvSpPr>
          <p:cNvPr name="Freeform 3" id="3"/>
          <p:cNvSpPr/>
          <p:nvPr/>
        </p:nvSpPr>
        <p:spPr>
          <a:xfrm flipH="false" flipV="false" rot="0">
            <a:off x="14863531" y="221509"/>
            <a:ext cx="4305921" cy="3622715"/>
          </a:xfrm>
          <a:custGeom>
            <a:avLst/>
            <a:gdLst/>
            <a:ahLst/>
            <a:cxnLst/>
            <a:rect r="r" b="b" t="t" l="l"/>
            <a:pathLst>
              <a:path h="3622715" w="4305921">
                <a:moveTo>
                  <a:pt x="0" y="0"/>
                </a:moveTo>
                <a:lnTo>
                  <a:pt x="4305921" y="0"/>
                </a:lnTo>
                <a:lnTo>
                  <a:pt x="4305921" y="3622715"/>
                </a:lnTo>
                <a:lnTo>
                  <a:pt x="0" y="3622715"/>
                </a:lnTo>
                <a:lnTo>
                  <a:pt x="0" y="0"/>
                </a:lnTo>
                <a:close/>
              </a:path>
            </a:pathLst>
          </a:custGeom>
          <a:blipFill>
            <a:blip r:embed="rId3"/>
            <a:stretch>
              <a:fillRect l="0" t="0" r="0" b="0"/>
            </a:stretch>
          </a:blipFill>
        </p:spPr>
      </p:sp>
      <p:grpSp>
        <p:nvGrpSpPr>
          <p:cNvPr name="Group 4" id="4"/>
          <p:cNvGrpSpPr/>
          <p:nvPr/>
        </p:nvGrpSpPr>
        <p:grpSpPr>
          <a:xfrm rot="0">
            <a:off x="3424469" y="3773120"/>
            <a:ext cx="11439061" cy="2740760"/>
            <a:chOff x="0" y="0"/>
            <a:chExt cx="2486826" cy="595835"/>
          </a:xfrm>
        </p:grpSpPr>
        <p:sp>
          <p:nvSpPr>
            <p:cNvPr name="Freeform 5" id="5"/>
            <p:cNvSpPr/>
            <p:nvPr/>
          </p:nvSpPr>
          <p:spPr>
            <a:xfrm flipH="false" flipV="false" rot="0">
              <a:off x="0" y="0"/>
              <a:ext cx="2486826" cy="595835"/>
            </a:xfrm>
            <a:custGeom>
              <a:avLst/>
              <a:gdLst/>
              <a:ahLst/>
              <a:cxnLst/>
              <a:rect r="r" b="b" t="t" l="l"/>
              <a:pathLst>
                <a:path h="595835" w="2486826">
                  <a:moveTo>
                    <a:pt x="27072" y="0"/>
                  </a:moveTo>
                  <a:lnTo>
                    <a:pt x="2459754" y="0"/>
                  </a:lnTo>
                  <a:cubicBezTo>
                    <a:pt x="2466934" y="0"/>
                    <a:pt x="2473820" y="2852"/>
                    <a:pt x="2478897" y="7929"/>
                  </a:cubicBezTo>
                  <a:cubicBezTo>
                    <a:pt x="2483974" y="13006"/>
                    <a:pt x="2486826" y="19892"/>
                    <a:pt x="2486826" y="27072"/>
                  </a:cubicBezTo>
                  <a:lnTo>
                    <a:pt x="2486826" y="568763"/>
                  </a:lnTo>
                  <a:cubicBezTo>
                    <a:pt x="2486826" y="575943"/>
                    <a:pt x="2483974" y="582829"/>
                    <a:pt x="2478897" y="587906"/>
                  </a:cubicBezTo>
                  <a:cubicBezTo>
                    <a:pt x="2473820" y="592983"/>
                    <a:pt x="2466934" y="595835"/>
                    <a:pt x="2459754" y="595835"/>
                  </a:cubicBezTo>
                  <a:lnTo>
                    <a:pt x="27072" y="595835"/>
                  </a:lnTo>
                  <a:cubicBezTo>
                    <a:pt x="19892" y="595835"/>
                    <a:pt x="13006" y="592983"/>
                    <a:pt x="7929" y="587906"/>
                  </a:cubicBezTo>
                  <a:cubicBezTo>
                    <a:pt x="2852" y="582829"/>
                    <a:pt x="0" y="575943"/>
                    <a:pt x="0" y="568763"/>
                  </a:cubicBezTo>
                  <a:lnTo>
                    <a:pt x="0" y="27072"/>
                  </a:lnTo>
                  <a:cubicBezTo>
                    <a:pt x="0" y="19892"/>
                    <a:pt x="2852" y="13006"/>
                    <a:pt x="7929" y="7929"/>
                  </a:cubicBezTo>
                  <a:cubicBezTo>
                    <a:pt x="13006" y="2852"/>
                    <a:pt x="19892" y="0"/>
                    <a:pt x="27072" y="0"/>
                  </a:cubicBezTo>
                  <a:close/>
                </a:path>
              </a:pathLst>
            </a:custGeom>
            <a:solidFill>
              <a:srgbClr val="FFFFFF"/>
            </a:solidFill>
            <a:ln w="171450" cap="rnd">
              <a:solidFill>
                <a:srgbClr val="506FA7"/>
              </a:solidFill>
              <a:prstDash val="solid"/>
              <a:round/>
            </a:ln>
          </p:spPr>
        </p:sp>
        <p:sp>
          <p:nvSpPr>
            <p:cNvPr name="TextBox 6" id="6"/>
            <p:cNvSpPr txBox="true"/>
            <p:nvPr/>
          </p:nvSpPr>
          <p:spPr>
            <a:xfrm>
              <a:off x="0" y="-47625"/>
              <a:ext cx="2486826" cy="643460"/>
            </a:xfrm>
            <a:prstGeom prst="rect">
              <a:avLst/>
            </a:prstGeom>
          </p:spPr>
          <p:txBody>
            <a:bodyPr anchor="ctr" rtlCol="false" tIns="50800" lIns="50800" bIns="50800" rIns="50800"/>
            <a:lstStyle/>
            <a:p>
              <a:pPr algn="ctr">
                <a:lnSpc>
                  <a:spcPts val="2659"/>
                </a:lnSpc>
              </a:pPr>
            </a:p>
          </p:txBody>
        </p:sp>
      </p:grpSp>
      <p:sp>
        <p:nvSpPr>
          <p:cNvPr name="Freeform 7" id="7"/>
          <p:cNvSpPr/>
          <p:nvPr/>
        </p:nvSpPr>
        <p:spPr>
          <a:xfrm flipH="false" flipV="false" rot="6700192">
            <a:off x="-1573595" y="200347"/>
            <a:ext cx="4120659" cy="4003907"/>
          </a:xfrm>
          <a:custGeom>
            <a:avLst/>
            <a:gdLst/>
            <a:ahLst/>
            <a:cxnLst/>
            <a:rect r="r" b="b" t="t" l="l"/>
            <a:pathLst>
              <a:path h="4003907" w="4120659">
                <a:moveTo>
                  <a:pt x="0" y="0"/>
                </a:moveTo>
                <a:lnTo>
                  <a:pt x="4120659" y="0"/>
                </a:lnTo>
                <a:lnTo>
                  <a:pt x="4120659" y="4003907"/>
                </a:lnTo>
                <a:lnTo>
                  <a:pt x="0" y="4003907"/>
                </a:lnTo>
                <a:lnTo>
                  <a:pt x="0" y="0"/>
                </a:lnTo>
                <a:close/>
              </a:path>
            </a:pathLst>
          </a:custGeom>
          <a:blipFill>
            <a:blip r:embed="rId4"/>
            <a:stretch>
              <a:fillRect l="0" t="0" r="0" b="0"/>
            </a:stretch>
          </a:blipFill>
        </p:spPr>
      </p:sp>
      <p:sp>
        <p:nvSpPr>
          <p:cNvPr name="TextBox 8" id="8"/>
          <p:cNvSpPr txBox="true"/>
          <p:nvPr/>
        </p:nvSpPr>
        <p:spPr>
          <a:xfrm rot="0">
            <a:off x="3712463" y="4116020"/>
            <a:ext cx="10863074" cy="2182805"/>
          </a:xfrm>
          <a:prstGeom prst="rect">
            <a:avLst/>
          </a:prstGeom>
        </p:spPr>
        <p:txBody>
          <a:bodyPr anchor="t" rtlCol="false" tIns="0" lIns="0" bIns="0" rIns="0">
            <a:spAutoFit/>
          </a:bodyPr>
          <a:lstStyle/>
          <a:p>
            <a:pPr algn="ctr">
              <a:lnSpc>
                <a:spcPts val="8141"/>
              </a:lnSpc>
            </a:pPr>
            <a:r>
              <a:rPr lang="en-US" sz="9691" b="true">
                <a:solidFill>
                  <a:srgbClr val="FFD088"/>
                </a:solidFill>
                <a:latin typeface="Roboto Bold"/>
                <a:ea typeface="Roboto Bold"/>
                <a:cs typeface="Roboto Bold"/>
                <a:sym typeface="Roboto Bold"/>
              </a:rPr>
              <a:t>Estructura de funciones óptimas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3092715" y="6172200"/>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3776710" y="-2692577"/>
            <a:ext cx="11065008" cy="8229600"/>
          </a:xfrm>
          <a:custGeom>
            <a:avLst/>
            <a:gdLst/>
            <a:ahLst/>
            <a:cxnLst/>
            <a:rect r="r" b="b" t="t" l="l"/>
            <a:pathLst>
              <a:path h="8229600" w="11065008">
                <a:moveTo>
                  <a:pt x="0" y="0"/>
                </a:moveTo>
                <a:lnTo>
                  <a:pt x="11065009" y="0"/>
                </a:lnTo>
                <a:lnTo>
                  <a:pt x="11065009" y="8229600"/>
                </a:lnTo>
                <a:lnTo>
                  <a:pt x="0" y="8229600"/>
                </a:lnTo>
                <a:lnTo>
                  <a:pt x="0" y="0"/>
                </a:lnTo>
                <a:close/>
              </a:path>
            </a:pathLst>
          </a:custGeom>
          <a:blipFill>
            <a:blip r:embed="rId3">
              <a:alphaModFix amt="20999"/>
            </a:blip>
            <a:stretch>
              <a:fillRect l="0" t="0" r="0" b="0"/>
            </a:stretch>
          </a:blipFill>
        </p:spPr>
      </p:sp>
      <p:sp>
        <p:nvSpPr>
          <p:cNvPr name="Freeform 4" id="4"/>
          <p:cNvSpPr/>
          <p:nvPr/>
        </p:nvSpPr>
        <p:spPr>
          <a:xfrm flipH="false" flipV="false" rot="0">
            <a:off x="7288299" y="-594161"/>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4">
              <a:alphaModFix amt="20999"/>
            </a:blip>
            <a:stretch>
              <a:fillRect l="0" t="0" r="0" b="0"/>
            </a:stretch>
          </a:blipFill>
        </p:spPr>
      </p:sp>
      <p:sp>
        <p:nvSpPr>
          <p:cNvPr name="Freeform 5" id="5"/>
          <p:cNvSpPr/>
          <p:nvPr/>
        </p:nvSpPr>
        <p:spPr>
          <a:xfrm flipH="false" flipV="false" rot="0">
            <a:off x="9723860" y="7305593"/>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4">
              <a:alphaModFix amt="20999"/>
            </a:blip>
            <a:stretch>
              <a:fillRect l="0" t="0" r="0" b="0"/>
            </a:stretch>
          </a:blipFill>
        </p:spPr>
      </p:sp>
      <p:grpSp>
        <p:nvGrpSpPr>
          <p:cNvPr name="Group 6" id="6"/>
          <p:cNvGrpSpPr/>
          <p:nvPr/>
        </p:nvGrpSpPr>
        <p:grpSpPr>
          <a:xfrm rot="0">
            <a:off x="1755795" y="2250463"/>
            <a:ext cx="14769173" cy="7439401"/>
            <a:chOff x="0" y="0"/>
            <a:chExt cx="3889823" cy="1959348"/>
          </a:xfrm>
        </p:grpSpPr>
        <p:sp>
          <p:nvSpPr>
            <p:cNvPr name="Freeform 7" id="7"/>
            <p:cNvSpPr/>
            <p:nvPr/>
          </p:nvSpPr>
          <p:spPr>
            <a:xfrm flipH="false" flipV="false" rot="0">
              <a:off x="0" y="0"/>
              <a:ext cx="3889823" cy="1959348"/>
            </a:xfrm>
            <a:custGeom>
              <a:avLst/>
              <a:gdLst/>
              <a:ahLst/>
              <a:cxnLst/>
              <a:rect r="r" b="b" t="t" l="l"/>
              <a:pathLst>
                <a:path h="1959348" w="3889823">
                  <a:moveTo>
                    <a:pt x="20968" y="0"/>
                  </a:moveTo>
                  <a:lnTo>
                    <a:pt x="3868856" y="0"/>
                  </a:lnTo>
                  <a:cubicBezTo>
                    <a:pt x="3880436" y="0"/>
                    <a:pt x="3889823" y="9388"/>
                    <a:pt x="3889823" y="20968"/>
                  </a:cubicBezTo>
                  <a:lnTo>
                    <a:pt x="3889823" y="1938381"/>
                  </a:lnTo>
                  <a:cubicBezTo>
                    <a:pt x="3889823" y="1949961"/>
                    <a:pt x="3880436" y="1959348"/>
                    <a:pt x="3868856" y="1959348"/>
                  </a:cubicBezTo>
                  <a:lnTo>
                    <a:pt x="20968" y="1959348"/>
                  </a:lnTo>
                  <a:cubicBezTo>
                    <a:pt x="9388" y="1959348"/>
                    <a:pt x="0" y="1949961"/>
                    <a:pt x="0" y="1938381"/>
                  </a:cubicBezTo>
                  <a:lnTo>
                    <a:pt x="0" y="20968"/>
                  </a:lnTo>
                  <a:cubicBezTo>
                    <a:pt x="0" y="9388"/>
                    <a:pt x="9388" y="0"/>
                    <a:pt x="20968" y="0"/>
                  </a:cubicBezTo>
                  <a:close/>
                </a:path>
              </a:pathLst>
            </a:custGeom>
            <a:solidFill>
              <a:srgbClr val="FFFFFF"/>
            </a:solidFill>
            <a:ln w="171450" cap="rnd">
              <a:solidFill>
                <a:srgbClr val="506FA7"/>
              </a:solidFill>
              <a:prstDash val="solid"/>
              <a:round/>
            </a:ln>
          </p:spPr>
        </p:sp>
        <p:sp>
          <p:nvSpPr>
            <p:cNvPr name="TextBox 8" id="8"/>
            <p:cNvSpPr txBox="true"/>
            <p:nvPr/>
          </p:nvSpPr>
          <p:spPr>
            <a:xfrm>
              <a:off x="0" y="-47625"/>
              <a:ext cx="3889823" cy="2006973"/>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4676880" y="-483268"/>
            <a:ext cx="4120659" cy="4003907"/>
          </a:xfrm>
          <a:custGeom>
            <a:avLst/>
            <a:gdLst/>
            <a:ahLst/>
            <a:cxnLst/>
            <a:rect r="r" b="b" t="t" l="l"/>
            <a:pathLst>
              <a:path h="4003907" w="4120659">
                <a:moveTo>
                  <a:pt x="0" y="0"/>
                </a:moveTo>
                <a:lnTo>
                  <a:pt x="4120659" y="0"/>
                </a:lnTo>
                <a:lnTo>
                  <a:pt x="4120659" y="4003907"/>
                </a:lnTo>
                <a:lnTo>
                  <a:pt x="0" y="4003907"/>
                </a:lnTo>
                <a:lnTo>
                  <a:pt x="0" y="0"/>
                </a:lnTo>
                <a:close/>
              </a:path>
            </a:pathLst>
          </a:custGeom>
          <a:blipFill>
            <a:blip r:embed="rId5"/>
            <a:stretch>
              <a:fillRect l="0" t="0" r="0" b="0"/>
            </a:stretch>
          </a:blipFill>
        </p:spPr>
      </p:sp>
      <p:sp>
        <p:nvSpPr>
          <p:cNvPr name="Freeform 10" id="10"/>
          <p:cNvSpPr/>
          <p:nvPr/>
        </p:nvSpPr>
        <p:spPr>
          <a:xfrm flipH="true" flipV="false" rot="0">
            <a:off x="37958" y="-227945"/>
            <a:ext cx="4120659" cy="4003907"/>
          </a:xfrm>
          <a:custGeom>
            <a:avLst/>
            <a:gdLst/>
            <a:ahLst/>
            <a:cxnLst/>
            <a:rect r="r" b="b" t="t" l="l"/>
            <a:pathLst>
              <a:path h="4003907" w="4120659">
                <a:moveTo>
                  <a:pt x="4120659" y="0"/>
                </a:moveTo>
                <a:lnTo>
                  <a:pt x="0" y="0"/>
                </a:lnTo>
                <a:lnTo>
                  <a:pt x="0" y="4003907"/>
                </a:lnTo>
                <a:lnTo>
                  <a:pt x="4120659" y="4003907"/>
                </a:lnTo>
                <a:lnTo>
                  <a:pt x="4120659" y="0"/>
                </a:lnTo>
                <a:close/>
              </a:path>
            </a:pathLst>
          </a:custGeom>
          <a:blipFill>
            <a:blip r:embed="rId5"/>
            <a:stretch>
              <a:fillRect l="0" t="0" r="0" b="0"/>
            </a:stretch>
          </a:blipFill>
        </p:spPr>
      </p:sp>
      <p:sp>
        <p:nvSpPr>
          <p:cNvPr name="Freeform 11" id="11"/>
          <p:cNvSpPr/>
          <p:nvPr/>
        </p:nvSpPr>
        <p:spPr>
          <a:xfrm flipH="false" flipV="false" rot="0">
            <a:off x="2098288" y="2560073"/>
            <a:ext cx="14043626" cy="6981224"/>
          </a:xfrm>
          <a:custGeom>
            <a:avLst/>
            <a:gdLst/>
            <a:ahLst/>
            <a:cxnLst/>
            <a:rect r="r" b="b" t="t" l="l"/>
            <a:pathLst>
              <a:path h="6981224" w="14043626">
                <a:moveTo>
                  <a:pt x="0" y="0"/>
                </a:moveTo>
                <a:lnTo>
                  <a:pt x="14043625" y="0"/>
                </a:lnTo>
                <a:lnTo>
                  <a:pt x="14043625" y="6981224"/>
                </a:lnTo>
                <a:lnTo>
                  <a:pt x="0" y="6981224"/>
                </a:lnTo>
                <a:lnTo>
                  <a:pt x="0" y="0"/>
                </a:lnTo>
                <a:close/>
              </a:path>
            </a:pathLst>
          </a:custGeom>
          <a:blipFill>
            <a:blip r:embed="rId6"/>
            <a:stretch>
              <a:fillRect l="0" t="0" r="0" b="0"/>
            </a:stretch>
          </a:blipFill>
        </p:spPr>
      </p:sp>
      <p:sp>
        <p:nvSpPr>
          <p:cNvPr name="TextBox 12" id="12"/>
          <p:cNvSpPr txBox="true"/>
          <p:nvPr/>
        </p:nvSpPr>
        <p:spPr>
          <a:xfrm rot="0">
            <a:off x="5497030" y="739281"/>
            <a:ext cx="6914450" cy="1289685"/>
          </a:xfrm>
          <a:prstGeom prst="rect">
            <a:avLst/>
          </a:prstGeom>
        </p:spPr>
        <p:txBody>
          <a:bodyPr anchor="t" rtlCol="false" tIns="0" lIns="0" bIns="0" rIns="0">
            <a:spAutoFit/>
          </a:bodyPr>
          <a:lstStyle/>
          <a:p>
            <a:pPr algn="ctr">
              <a:lnSpc>
                <a:spcPts val="10320"/>
              </a:lnSpc>
            </a:pPr>
            <a:r>
              <a:rPr lang="en-US" sz="8000" b="true">
                <a:solidFill>
                  <a:srgbClr val="FFD088"/>
                </a:solidFill>
                <a:latin typeface="Roboto Bold"/>
                <a:ea typeface="Roboto Bold"/>
                <a:cs typeface="Roboto Bold"/>
                <a:sym typeface="Roboto Bold"/>
              </a:rPr>
              <a:t>CAJA NEGRA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8787855" y="7154714"/>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2854176" y="6172200"/>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3">
              <a:alphaModFix amt="20999"/>
            </a:blip>
            <a:stretch>
              <a:fillRect l="0" t="0" r="0" b="0"/>
            </a:stretch>
          </a:blipFill>
        </p:spPr>
      </p:sp>
      <p:sp>
        <p:nvSpPr>
          <p:cNvPr name="Freeform 4" id="4"/>
          <p:cNvSpPr/>
          <p:nvPr/>
        </p:nvSpPr>
        <p:spPr>
          <a:xfrm flipH="false" flipV="false" rot="0">
            <a:off x="-3776710" y="-2692577"/>
            <a:ext cx="11065008" cy="8229600"/>
          </a:xfrm>
          <a:custGeom>
            <a:avLst/>
            <a:gdLst/>
            <a:ahLst/>
            <a:cxnLst/>
            <a:rect r="r" b="b" t="t" l="l"/>
            <a:pathLst>
              <a:path h="8229600" w="11065008">
                <a:moveTo>
                  <a:pt x="0" y="0"/>
                </a:moveTo>
                <a:lnTo>
                  <a:pt x="11065009" y="0"/>
                </a:lnTo>
                <a:lnTo>
                  <a:pt x="11065009" y="8229600"/>
                </a:lnTo>
                <a:lnTo>
                  <a:pt x="0" y="8229600"/>
                </a:lnTo>
                <a:lnTo>
                  <a:pt x="0" y="0"/>
                </a:lnTo>
                <a:close/>
              </a:path>
            </a:pathLst>
          </a:custGeom>
          <a:blipFill>
            <a:blip r:embed="rId4">
              <a:alphaModFix amt="20999"/>
            </a:blip>
            <a:stretch>
              <a:fillRect l="0" t="0" r="0" b="0"/>
            </a:stretch>
          </a:blipFill>
        </p:spPr>
      </p:sp>
      <p:sp>
        <p:nvSpPr>
          <p:cNvPr name="Freeform 5" id="5"/>
          <p:cNvSpPr/>
          <p:nvPr/>
        </p:nvSpPr>
        <p:spPr>
          <a:xfrm flipH="false" flipV="false" rot="0">
            <a:off x="7288299" y="-594161"/>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2">
              <a:alphaModFix amt="20999"/>
            </a:blip>
            <a:stretch>
              <a:fillRect l="0" t="0" r="0" b="0"/>
            </a:stretch>
          </a:blipFill>
        </p:spPr>
      </p:sp>
      <p:sp>
        <p:nvSpPr>
          <p:cNvPr name="Freeform 6" id="6"/>
          <p:cNvSpPr/>
          <p:nvPr/>
        </p:nvSpPr>
        <p:spPr>
          <a:xfrm flipH="false" flipV="false" rot="0">
            <a:off x="2678328" y="4298460"/>
            <a:ext cx="3847248" cy="1056244"/>
          </a:xfrm>
          <a:custGeom>
            <a:avLst/>
            <a:gdLst/>
            <a:ahLst/>
            <a:cxnLst/>
            <a:rect r="r" b="b" t="t" l="l"/>
            <a:pathLst>
              <a:path h="1056244" w="3847248">
                <a:moveTo>
                  <a:pt x="0" y="0"/>
                </a:moveTo>
                <a:lnTo>
                  <a:pt x="3847248" y="0"/>
                </a:lnTo>
                <a:lnTo>
                  <a:pt x="3847248" y="1056245"/>
                </a:lnTo>
                <a:lnTo>
                  <a:pt x="0" y="10562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7492236" y="4224744"/>
            <a:ext cx="3847248" cy="1056244"/>
          </a:xfrm>
          <a:custGeom>
            <a:avLst/>
            <a:gdLst/>
            <a:ahLst/>
            <a:cxnLst/>
            <a:rect r="r" b="b" t="t" l="l"/>
            <a:pathLst>
              <a:path h="1056244" w="3847248">
                <a:moveTo>
                  <a:pt x="0" y="0"/>
                </a:moveTo>
                <a:lnTo>
                  <a:pt x="3847248" y="0"/>
                </a:lnTo>
                <a:lnTo>
                  <a:pt x="3847248" y="1056245"/>
                </a:lnTo>
                <a:lnTo>
                  <a:pt x="0" y="10562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2121141" y="4146060"/>
            <a:ext cx="3847248" cy="1056244"/>
          </a:xfrm>
          <a:custGeom>
            <a:avLst/>
            <a:gdLst/>
            <a:ahLst/>
            <a:cxnLst/>
            <a:rect r="r" b="b" t="t" l="l"/>
            <a:pathLst>
              <a:path h="1056244" w="3847248">
                <a:moveTo>
                  <a:pt x="0" y="0"/>
                </a:moveTo>
                <a:lnTo>
                  <a:pt x="3847248" y="0"/>
                </a:lnTo>
                <a:lnTo>
                  <a:pt x="3847248" y="1056245"/>
                </a:lnTo>
                <a:lnTo>
                  <a:pt x="0" y="10562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3950255" y="6050030"/>
            <a:ext cx="3847248" cy="1056244"/>
          </a:xfrm>
          <a:custGeom>
            <a:avLst/>
            <a:gdLst/>
            <a:ahLst/>
            <a:cxnLst/>
            <a:rect r="r" b="b" t="t" l="l"/>
            <a:pathLst>
              <a:path h="1056244" w="3847248">
                <a:moveTo>
                  <a:pt x="0" y="0"/>
                </a:moveTo>
                <a:lnTo>
                  <a:pt x="3847248" y="0"/>
                </a:lnTo>
                <a:lnTo>
                  <a:pt x="3847248" y="1056244"/>
                </a:lnTo>
                <a:lnTo>
                  <a:pt x="0" y="1056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644483" y="6172200"/>
            <a:ext cx="3847248" cy="1056244"/>
          </a:xfrm>
          <a:custGeom>
            <a:avLst/>
            <a:gdLst/>
            <a:ahLst/>
            <a:cxnLst/>
            <a:rect r="r" b="b" t="t" l="l"/>
            <a:pathLst>
              <a:path h="1056244" w="3847248">
                <a:moveTo>
                  <a:pt x="0" y="0"/>
                </a:moveTo>
                <a:lnTo>
                  <a:pt x="3847248" y="0"/>
                </a:lnTo>
                <a:lnTo>
                  <a:pt x="3847248" y="1056244"/>
                </a:lnTo>
                <a:lnTo>
                  <a:pt x="0" y="1056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15059603" y="-594161"/>
            <a:ext cx="3969153" cy="4239415"/>
          </a:xfrm>
          <a:custGeom>
            <a:avLst/>
            <a:gdLst/>
            <a:ahLst/>
            <a:cxnLst/>
            <a:rect r="r" b="b" t="t" l="l"/>
            <a:pathLst>
              <a:path h="4239415" w="3969153">
                <a:moveTo>
                  <a:pt x="0" y="0"/>
                </a:moveTo>
                <a:lnTo>
                  <a:pt x="3969152" y="0"/>
                </a:lnTo>
                <a:lnTo>
                  <a:pt x="3969152" y="4239415"/>
                </a:lnTo>
                <a:lnTo>
                  <a:pt x="0" y="4239415"/>
                </a:lnTo>
                <a:lnTo>
                  <a:pt x="0" y="0"/>
                </a:lnTo>
                <a:close/>
              </a:path>
            </a:pathLst>
          </a:custGeom>
          <a:blipFill>
            <a:blip r:embed="rId7"/>
            <a:stretch>
              <a:fillRect l="0" t="0" r="0" b="0"/>
            </a:stretch>
          </a:blipFill>
        </p:spPr>
      </p:sp>
      <p:sp>
        <p:nvSpPr>
          <p:cNvPr name="Freeform 12" id="12"/>
          <p:cNvSpPr/>
          <p:nvPr/>
        </p:nvSpPr>
        <p:spPr>
          <a:xfrm flipH="false" flipV="false" rot="0">
            <a:off x="-1641054" y="-95254"/>
            <a:ext cx="4502252" cy="4724707"/>
          </a:xfrm>
          <a:custGeom>
            <a:avLst/>
            <a:gdLst/>
            <a:ahLst/>
            <a:cxnLst/>
            <a:rect r="r" b="b" t="t" l="l"/>
            <a:pathLst>
              <a:path h="4724707" w="4502252">
                <a:moveTo>
                  <a:pt x="0" y="0"/>
                </a:moveTo>
                <a:lnTo>
                  <a:pt x="4502252" y="0"/>
                </a:lnTo>
                <a:lnTo>
                  <a:pt x="4502252" y="4724707"/>
                </a:lnTo>
                <a:lnTo>
                  <a:pt x="0" y="4724707"/>
                </a:lnTo>
                <a:lnTo>
                  <a:pt x="0" y="0"/>
                </a:lnTo>
                <a:close/>
              </a:path>
            </a:pathLst>
          </a:custGeom>
          <a:blipFill>
            <a:blip r:embed="rId8"/>
            <a:stretch>
              <a:fillRect l="0" t="0" r="0" b="0"/>
            </a:stretch>
          </a:blipFill>
        </p:spPr>
      </p:sp>
      <p:sp>
        <p:nvSpPr>
          <p:cNvPr name="Freeform 13" id="13"/>
          <p:cNvSpPr/>
          <p:nvPr/>
        </p:nvSpPr>
        <p:spPr>
          <a:xfrm flipH="false" flipV="false" rot="0">
            <a:off x="14908096" y="8076880"/>
            <a:ext cx="4120659" cy="4003907"/>
          </a:xfrm>
          <a:custGeom>
            <a:avLst/>
            <a:gdLst/>
            <a:ahLst/>
            <a:cxnLst/>
            <a:rect r="r" b="b" t="t" l="l"/>
            <a:pathLst>
              <a:path h="4003907" w="4120659">
                <a:moveTo>
                  <a:pt x="0" y="0"/>
                </a:moveTo>
                <a:lnTo>
                  <a:pt x="4120659" y="0"/>
                </a:lnTo>
                <a:lnTo>
                  <a:pt x="4120659" y="4003907"/>
                </a:lnTo>
                <a:lnTo>
                  <a:pt x="0" y="4003907"/>
                </a:lnTo>
                <a:lnTo>
                  <a:pt x="0" y="0"/>
                </a:lnTo>
                <a:close/>
              </a:path>
            </a:pathLst>
          </a:custGeom>
          <a:blipFill>
            <a:blip r:embed="rId9"/>
            <a:stretch>
              <a:fillRect l="0" t="0" r="0" b="0"/>
            </a:stretch>
          </a:blipFill>
        </p:spPr>
      </p:sp>
      <p:sp>
        <p:nvSpPr>
          <p:cNvPr name="TextBox 14" id="14"/>
          <p:cNvSpPr txBox="true"/>
          <p:nvPr/>
        </p:nvSpPr>
        <p:spPr>
          <a:xfrm rot="0">
            <a:off x="3185099" y="1727023"/>
            <a:ext cx="11874504" cy="2124198"/>
          </a:xfrm>
          <a:prstGeom prst="rect">
            <a:avLst/>
          </a:prstGeom>
        </p:spPr>
        <p:txBody>
          <a:bodyPr anchor="t" rtlCol="false" tIns="0" lIns="0" bIns="0" rIns="0">
            <a:spAutoFit/>
          </a:bodyPr>
          <a:lstStyle/>
          <a:p>
            <a:pPr algn="ctr">
              <a:lnSpc>
                <a:spcPts val="7877"/>
              </a:lnSpc>
            </a:pPr>
            <a:r>
              <a:rPr lang="en-US" sz="9377" b="true">
                <a:solidFill>
                  <a:srgbClr val="FFD088"/>
                </a:solidFill>
                <a:latin typeface="Roboto Bold"/>
                <a:ea typeface="Roboto Bold"/>
                <a:cs typeface="Roboto Bold"/>
                <a:sym typeface="Roboto Bold"/>
              </a:rPr>
              <a:t>Secuencia de operaciones</a:t>
            </a:r>
          </a:p>
        </p:txBody>
      </p:sp>
      <p:sp>
        <p:nvSpPr>
          <p:cNvPr name="TextBox 15" id="15"/>
          <p:cNvSpPr txBox="true"/>
          <p:nvPr/>
        </p:nvSpPr>
        <p:spPr>
          <a:xfrm rot="0">
            <a:off x="2678328" y="4614939"/>
            <a:ext cx="3756122" cy="405386"/>
          </a:xfrm>
          <a:prstGeom prst="rect">
            <a:avLst/>
          </a:prstGeom>
        </p:spPr>
        <p:txBody>
          <a:bodyPr anchor="t" rtlCol="false" tIns="0" lIns="0" bIns="0" rIns="0">
            <a:spAutoFit/>
          </a:bodyPr>
          <a:lstStyle/>
          <a:p>
            <a:pPr algn="ctr">
              <a:lnSpc>
                <a:spcPts val="3287"/>
              </a:lnSpc>
            </a:pPr>
            <a:r>
              <a:rPr lang="en-US" sz="2399" b="true">
                <a:solidFill>
                  <a:srgbClr val="000000"/>
                </a:solidFill>
                <a:latin typeface="Roboto Bold"/>
                <a:ea typeface="Roboto Bold"/>
                <a:cs typeface="Roboto Bold"/>
                <a:sym typeface="Roboto Bold"/>
              </a:rPr>
              <a:t>Encendido</a:t>
            </a:r>
          </a:p>
        </p:txBody>
      </p:sp>
      <p:sp>
        <p:nvSpPr>
          <p:cNvPr name="TextBox 16" id="16"/>
          <p:cNvSpPr txBox="true"/>
          <p:nvPr/>
        </p:nvSpPr>
        <p:spPr>
          <a:xfrm rot="0">
            <a:off x="7537799" y="4526361"/>
            <a:ext cx="3756122" cy="405386"/>
          </a:xfrm>
          <a:prstGeom prst="rect">
            <a:avLst/>
          </a:prstGeom>
        </p:spPr>
        <p:txBody>
          <a:bodyPr anchor="t" rtlCol="false" tIns="0" lIns="0" bIns="0" rIns="0">
            <a:spAutoFit/>
          </a:bodyPr>
          <a:lstStyle/>
          <a:p>
            <a:pPr algn="ctr">
              <a:lnSpc>
                <a:spcPts val="3287"/>
              </a:lnSpc>
            </a:pPr>
            <a:r>
              <a:rPr lang="en-US" sz="2399" b="true">
                <a:solidFill>
                  <a:srgbClr val="000000"/>
                </a:solidFill>
                <a:latin typeface="Roboto Bold"/>
                <a:ea typeface="Roboto Bold"/>
                <a:cs typeface="Roboto Bold"/>
                <a:sym typeface="Roboto Bold"/>
              </a:rPr>
              <a:t>Paciente </a:t>
            </a:r>
          </a:p>
        </p:txBody>
      </p:sp>
      <p:sp>
        <p:nvSpPr>
          <p:cNvPr name="TextBox 17" id="17"/>
          <p:cNvSpPr txBox="true"/>
          <p:nvPr/>
        </p:nvSpPr>
        <p:spPr>
          <a:xfrm rot="0">
            <a:off x="13950255" y="6351646"/>
            <a:ext cx="3756122" cy="405386"/>
          </a:xfrm>
          <a:prstGeom prst="rect">
            <a:avLst/>
          </a:prstGeom>
        </p:spPr>
        <p:txBody>
          <a:bodyPr anchor="t" rtlCol="false" tIns="0" lIns="0" bIns="0" rIns="0">
            <a:spAutoFit/>
          </a:bodyPr>
          <a:lstStyle/>
          <a:p>
            <a:pPr algn="ctr">
              <a:lnSpc>
                <a:spcPts val="3287"/>
              </a:lnSpc>
            </a:pPr>
            <a:r>
              <a:rPr lang="en-US" sz="2399" b="true">
                <a:solidFill>
                  <a:srgbClr val="000000"/>
                </a:solidFill>
                <a:latin typeface="Roboto Bold"/>
                <a:ea typeface="Roboto Bold"/>
                <a:cs typeface="Roboto Bold"/>
                <a:sym typeface="Roboto Bold"/>
              </a:rPr>
              <a:t>Procesamiento </a:t>
            </a:r>
          </a:p>
        </p:txBody>
      </p:sp>
      <p:sp>
        <p:nvSpPr>
          <p:cNvPr name="TextBox 18" id="18"/>
          <p:cNvSpPr txBox="true"/>
          <p:nvPr/>
        </p:nvSpPr>
        <p:spPr>
          <a:xfrm rot="0">
            <a:off x="690046" y="6445892"/>
            <a:ext cx="3756122" cy="405386"/>
          </a:xfrm>
          <a:prstGeom prst="rect">
            <a:avLst/>
          </a:prstGeom>
        </p:spPr>
        <p:txBody>
          <a:bodyPr anchor="t" rtlCol="false" tIns="0" lIns="0" bIns="0" rIns="0">
            <a:spAutoFit/>
          </a:bodyPr>
          <a:lstStyle/>
          <a:p>
            <a:pPr algn="ctr">
              <a:lnSpc>
                <a:spcPts val="3287"/>
              </a:lnSpc>
            </a:pPr>
            <a:r>
              <a:rPr lang="en-US" sz="2399" b="true">
                <a:solidFill>
                  <a:srgbClr val="000000"/>
                </a:solidFill>
                <a:latin typeface="Roboto Bold"/>
                <a:ea typeface="Roboto Bold"/>
                <a:cs typeface="Roboto Bold"/>
                <a:sym typeface="Roboto Bold"/>
              </a:rPr>
              <a:t>Visualización en vivo</a:t>
            </a:r>
          </a:p>
        </p:txBody>
      </p:sp>
      <p:sp>
        <p:nvSpPr>
          <p:cNvPr name="Freeform 19" id="19"/>
          <p:cNvSpPr/>
          <p:nvPr/>
        </p:nvSpPr>
        <p:spPr>
          <a:xfrm flipH="false" flipV="false" rot="0">
            <a:off x="5218490" y="6144275"/>
            <a:ext cx="3847248" cy="1056244"/>
          </a:xfrm>
          <a:custGeom>
            <a:avLst/>
            <a:gdLst/>
            <a:ahLst/>
            <a:cxnLst/>
            <a:rect r="r" b="b" t="t" l="l"/>
            <a:pathLst>
              <a:path h="1056244" w="3847248">
                <a:moveTo>
                  <a:pt x="0" y="0"/>
                </a:moveTo>
                <a:lnTo>
                  <a:pt x="3847248" y="0"/>
                </a:lnTo>
                <a:lnTo>
                  <a:pt x="3847248" y="1056245"/>
                </a:lnTo>
                <a:lnTo>
                  <a:pt x="0" y="10562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0" id="20"/>
          <p:cNvSpPr/>
          <p:nvPr/>
        </p:nvSpPr>
        <p:spPr>
          <a:xfrm flipH="false" flipV="false" rot="0">
            <a:off x="9590102" y="6098469"/>
            <a:ext cx="3847248" cy="1056244"/>
          </a:xfrm>
          <a:custGeom>
            <a:avLst/>
            <a:gdLst/>
            <a:ahLst/>
            <a:cxnLst/>
            <a:rect r="r" b="b" t="t" l="l"/>
            <a:pathLst>
              <a:path h="1056244" w="3847248">
                <a:moveTo>
                  <a:pt x="0" y="0"/>
                </a:moveTo>
                <a:lnTo>
                  <a:pt x="3847248" y="0"/>
                </a:lnTo>
                <a:lnTo>
                  <a:pt x="3847248" y="1056245"/>
                </a:lnTo>
                <a:lnTo>
                  <a:pt x="0" y="10562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1" id="21"/>
          <p:cNvSpPr/>
          <p:nvPr/>
        </p:nvSpPr>
        <p:spPr>
          <a:xfrm flipH="false" flipV="false" rot="0">
            <a:off x="2678328" y="8006914"/>
            <a:ext cx="3847248" cy="1056244"/>
          </a:xfrm>
          <a:custGeom>
            <a:avLst/>
            <a:gdLst/>
            <a:ahLst/>
            <a:cxnLst/>
            <a:rect r="r" b="b" t="t" l="l"/>
            <a:pathLst>
              <a:path h="1056244" w="3847248">
                <a:moveTo>
                  <a:pt x="0" y="0"/>
                </a:moveTo>
                <a:lnTo>
                  <a:pt x="3847248" y="0"/>
                </a:lnTo>
                <a:lnTo>
                  <a:pt x="3847248" y="1056244"/>
                </a:lnTo>
                <a:lnTo>
                  <a:pt x="0" y="1056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7341138" y="8006914"/>
            <a:ext cx="3847248" cy="1056244"/>
          </a:xfrm>
          <a:custGeom>
            <a:avLst/>
            <a:gdLst/>
            <a:ahLst/>
            <a:cxnLst/>
            <a:rect r="r" b="b" t="t" l="l"/>
            <a:pathLst>
              <a:path h="1056244" w="3847248">
                <a:moveTo>
                  <a:pt x="0" y="0"/>
                </a:moveTo>
                <a:lnTo>
                  <a:pt x="3847248" y="0"/>
                </a:lnTo>
                <a:lnTo>
                  <a:pt x="3847248" y="1056244"/>
                </a:lnTo>
                <a:lnTo>
                  <a:pt x="0" y="1056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3" id="23"/>
          <p:cNvSpPr txBox="true"/>
          <p:nvPr/>
        </p:nvSpPr>
        <p:spPr>
          <a:xfrm rot="0">
            <a:off x="5309616" y="6445892"/>
            <a:ext cx="3756122" cy="405386"/>
          </a:xfrm>
          <a:prstGeom prst="rect">
            <a:avLst/>
          </a:prstGeom>
        </p:spPr>
        <p:txBody>
          <a:bodyPr anchor="t" rtlCol="false" tIns="0" lIns="0" bIns="0" rIns="0">
            <a:spAutoFit/>
          </a:bodyPr>
          <a:lstStyle/>
          <a:p>
            <a:pPr algn="ctr">
              <a:lnSpc>
                <a:spcPts val="3287"/>
              </a:lnSpc>
            </a:pPr>
            <a:r>
              <a:rPr lang="en-US" sz="2399" b="true">
                <a:solidFill>
                  <a:srgbClr val="000000"/>
                </a:solidFill>
                <a:latin typeface="Roboto Bold"/>
                <a:ea typeface="Roboto Bold"/>
                <a:cs typeface="Roboto Bold"/>
                <a:sym typeface="Roboto Bold"/>
              </a:rPr>
              <a:t>Ajuste </a:t>
            </a:r>
          </a:p>
        </p:txBody>
      </p:sp>
      <p:sp>
        <p:nvSpPr>
          <p:cNvPr name="TextBox 24" id="24"/>
          <p:cNvSpPr txBox="true"/>
          <p:nvPr/>
        </p:nvSpPr>
        <p:spPr>
          <a:xfrm rot="0">
            <a:off x="9681968" y="6362000"/>
            <a:ext cx="3756122" cy="405386"/>
          </a:xfrm>
          <a:prstGeom prst="rect">
            <a:avLst/>
          </a:prstGeom>
        </p:spPr>
        <p:txBody>
          <a:bodyPr anchor="t" rtlCol="false" tIns="0" lIns="0" bIns="0" rIns="0">
            <a:spAutoFit/>
          </a:bodyPr>
          <a:lstStyle/>
          <a:p>
            <a:pPr algn="ctr">
              <a:lnSpc>
                <a:spcPts val="3287"/>
              </a:lnSpc>
            </a:pPr>
            <a:r>
              <a:rPr lang="en-US" sz="2399" b="true">
                <a:solidFill>
                  <a:srgbClr val="000000"/>
                </a:solidFill>
                <a:latin typeface="Roboto Bold"/>
                <a:ea typeface="Roboto Bold"/>
                <a:cs typeface="Roboto Bold"/>
                <a:sym typeface="Roboto Bold"/>
              </a:rPr>
              <a:t>Captura </a:t>
            </a:r>
          </a:p>
        </p:txBody>
      </p:sp>
      <p:sp>
        <p:nvSpPr>
          <p:cNvPr name="TextBox 25" id="25"/>
          <p:cNvSpPr txBox="true"/>
          <p:nvPr/>
        </p:nvSpPr>
        <p:spPr>
          <a:xfrm rot="0">
            <a:off x="2678328" y="8308530"/>
            <a:ext cx="3756122" cy="405386"/>
          </a:xfrm>
          <a:prstGeom prst="rect">
            <a:avLst/>
          </a:prstGeom>
        </p:spPr>
        <p:txBody>
          <a:bodyPr anchor="t" rtlCol="false" tIns="0" lIns="0" bIns="0" rIns="0">
            <a:spAutoFit/>
          </a:bodyPr>
          <a:lstStyle/>
          <a:p>
            <a:pPr algn="ctr">
              <a:lnSpc>
                <a:spcPts val="3287"/>
              </a:lnSpc>
            </a:pPr>
            <a:r>
              <a:rPr lang="en-US" sz="2399" b="true">
                <a:solidFill>
                  <a:srgbClr val="000000"/>
                </a:solidFill>
                <a:latin typeface="Roboto Bold"/>
                <a:ea typeface="Roboto Bold"/>
                <a:cs typeface="Roboto Bold"/>
                <a:sym typeface="Roboto Bold"/>
              </a:rPr>
              <a:t>Machine Learning</a:t>
            </a:r>
          </a:p>
        </p:txBody>
      </p:sp>
      <p:sp>
        <p:nvSpPr>
          <p:cNvPr name="TextBox 26" id="26"/>
          <p:cNvSpPr txBox="true"/>
          <p:nvPr/>
        </p:nvSpPr>
        <p:spPr>
          <a:xfrm rot="0">
            <a:off x="7542485" y="8308530"/>
            <a:ext cx="3756122" cy="405386"/>
          </a:xfrm>
          <a:prstGeom prst="rect">
            <a:avLst/>
          </a:prstGeom>
        </p:spPr>
        <p:txBody>
          <a:bodyPr anchor="t" rtlCol="false" tIns="0" lIns="0" bIns="0" rIns="0">
            <a:spAutoFit/>
          </a:bodyPr>
          <a:lstStyle/>
          <a:p>
            <a:pPr algn="ctr">
              <a:lnSpc>
                <a:spcPts val="3287"/>
              </a:lnSpc>
            </a:pPr>
            <a:r>
              <a:rPr lang="en-US" sz="2399" b="true">
                <a:solidFill>
                  <a:srgbClr val="000000"/>
                </a:solidFill>
                <a:latin typeface="Roboto Bold"/>
                <a:ea typeface="Roboto Bold"/>
                <a:cs typeface="Roboto Bold"/>
                <a:sym typeface="Roboto Bold"/>
              </a:rPr>
              <a:t>Resultado</a:t>
            </a:r>
          </a:p>
        </p:txBody>
      </p:sp>
      <p:sp>
        <p:nvSpPr>
          <p:cNvPr name="TextBox 27" id="27"/>
          <p:cNvSpPr txBox="true"/>
          <p:nvPr/>
        </p:nvSpPr>
        <p:spPr>
          <a:xfrm rot="0">
            <a:off x="12212267" y="4447677"/>
            <a:ext cx="3756122" cy="405386"/>
          </a:xfrm>
          <a:prstGeom prst="rect">
            <a:avLst/>
          </a:prstGeom>
        </p:spPr>
        <p:txBody>
          <a:bodyPr anchor="t" rtlCol="false" tIns="0" lIns="0" bIns="0" rIns="0">
            <a:spAutoFit/>
          </a:bodyPr>
          <a:lstStyle/>
          <a:p>
            <a:pPr algn="ctr">
              <a:lnSpc>
                <a:spcPts val="3287"/>
              </a:lnSpc>
            </a:pPr>
            <a:r>
              <a:rPr lang="en-US" sz="2399" b="true">
                <a:solidFill>
                  <a:srgbClr val="000000"/>
                </a:solidFill>
                <a:latin typeface="Roboto Bold"/>
                <a:ea typeface="Roboto Bold"/>
                <a:cs typeface="Roboto Bold"/>
                <a:sym typeface="Roboto Bold"/>
              </a:rPr>
              <a:t>Posicionamiento </a:t>
            </a:r>
          </a:p>
        </p:txBody>
      </p:sp>
      <p:sp>
        <p:nvSpPr>
          <p:cNvPr name="Freeform 28" id="28"/>
          <p:cNvSpPr/>
          <p:nvPr/>
        </p:nvSpPr>
        <p:spPr>
          <a:xfrm flipH="false" flipV="false" rot="0">
            <a:off x="12117757" y="8006914"/>
            <a:ext cx="3847248" cy="1056244"/>
          </a:xfrm>
          <a:custGeom>
            <a:avLst/>
            <a:gdLst/>
            <a:ahLst/>
            <a:cxnLst/>
            <a:rect r="r" b="b" t="t" l="l"/>
            <a:pathLst>
              <a:path h="1056244" w="3847248">
                <a:moveTo>
                  <a:pt x="0" y="0"/>
                </a:moveTo>
                <a:lnTo>
                  <a:pt x="3847248" y="0"/>
                </a:lnTo>
                <a:lnTo>
                  <a:pt x="3847248" y="1056244"/>
                </a:lnTo>
                <a:lnTo>
                  <a:pt x="0" y="1056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9" id="29"/>
          <p:cNvSpPr txBox="true"/>
          <p:nvPr/>
        </p:nvSpPr>
        <p:spPr>
          <a:xfrm rot="0">
            <a:off x="12117757" y="8323393"/>
            <a:ext cx="3756122" cy="405386"/>
          </a:xfrm>
          <a:prstGeom prst="rect">
            <a:avLst/>
          </a:prstGeom>
        </p:spPr>
        <p:txBody>
          <a:bodyPr anchor="t" rtlCol="false" tIns="0" lIns="0" bIns="0" rIns="0">
            <a:spAutoFit/>
          </a:bodyPr>
          <a:lstStyle/>
          <a:p>
            <a:pPr algn="ctr">
              <a:lnSpc>
                <a:spcPts val="3287"/>
              </a:lnSpc>
            </a:pPr>
            <a:r>
              <a:rPr lang="en-US" sz="2399" b="true">
                <a:solidFill>
                  <a:srgbClr val="000000"/>
                </a:solidFill>
                <a:latin typeface="Roboto Bold"/>
                <a:ea typeface="Roboto Bold"/>
                <a:cs typeface="Roboto Bold"/>
                <a:sym typeface="Roboto Bold"/>
              </a:rPr>
              <a:t>Apagado</a:t>
            </a:r>
          </a:p>
        </p:txBody>
      </p:sp>
      <p:sp>
        <p:nvSpPr>
          <p:cNvPr name="AutoShape 30" id="30"/>
          <p:cNvSpPr/>
          <p:nvPr/>
        </p:nvSpPr>
        <p:spPr>
          <a:xfrm>
            <a:off x="6525576" y="4826582"/>
            <a:ext cx="1016909" cy="0"/>
          </a:xfrm>
          <a:prstGeom prst="line">
            <a:avLst/>
          </a:prstGeom>
          <a:ln cap="flat" w="38100">
            <a:solidFill>
              <a:srgbClr val="506FA7"/>
            </a:solidFill>
            <a:prstDash val="solid"/>
            <a:headEnd type="none" len="sm" w="sm"/>
            <a:tailEnd type="triangle" len="med" w="lg"/>
          </a:ln>
        </p:spPr>
      </p:sp>
      <p:sp>
        <p:nvSpPr>
          <p:cNvPr name="AutoShape 31" id="31"/>
          <p:cNvSpPr/>
          <p:nvPr/>
        </p:nvSpPr>
        <p:spPr>
          <a:xfrm>
            <a:off x="11298607" y="4733816"/>
            <a:ext cx="1016909" cy="0"/>
          </a:xfrm>
          <a:prstGeom prst="line">
            <a:avLst/>
          </a:prstGeom>
          <a:ln cap="flat" w="38100">
            <a:solidFill>
              <a:srgbClr val="506FA7"/>
            </a:solidFill>
            <a:prstDash val="solid"/>
            <a:headEnd type="none" len="sm" w="sm"/>
            <a:tailEnd type="triangle" len="med" w="lg"/>
          </a:ln>
        </p:spPr>
      </p:sp>
      <p:sp>
        <p:nvSpPr>
          <p:cNvPr name="AutoShape 32" id="32"/>
          <p:cNvSpPr/>
          <p:nvPr/>
        </p:nvSpPr>
        <p:spPr>
          <a:xfrm>
            <a:off x="4556389" y="6672398"/>
            <a:ext cx="772322" cy="0"/>
          </a:xfrm>
          <a:prstGeom prst="line">
            <a:avLst/>
          </a:prstGeom>
          <a:ln cap="flat" w="38100">
            <a:solidFill>
              <a:srgbClr val="506FA7"/>
            </a:solidFill>
            <a:prstDash val="solid"/>
            <a:headEnd type="none" len="sm" w="sm"/>
            <a:tailEnd type="triangle" len="med" w="lg"/>
          </a:ln>
        </p:spPr>
      </p:sp>
      <p:sp>
        <p:nvSpPr>
          <p:cNvPr name="AutoShape 33" id="33"/>
          <p:cNvSpPr/>
          <p:nvPr/>
        </p:nvSpPr>
        <p:spPr>
          <a:xfrm>
            <a:off x="9034385" y="6672398"/>
            <a:ext cx="772322" cy="0"/>
          </a:xfrm>
          <a:prstGeom prst="line">
            <a:avLst/>
          </a:prstGeom>
          <a:ln cap="flat" w="38100">
            <a:solidFill>
              <a:srgbClr val="506FA7"/>
            </a:solidFill>
            <a:prstDash val="solid"/>
            <a:headEnd type="none" len="sm" w="sm"/>
            <a:tailEnd type="triangle" len="med" w="lg"/>
          </a:ln>
        </p:spPr>
      </p:sp>
      <p:sp>
        <p:nvSpPr>
          <p:cNvPr name="AutoShape 34" id="34"/>
          <p:cNvSpPr/>
          <p:nvPr/>
        </p:nvSpPr>
        <p:spPr>
          <a:xfrm>
            <a:off x="13318006" y="6645642"/>
            <a:ext cx="772322" cy="0"/>
          </a:xfrm>
          <a:prstGeom prst="line">
            <a:avLst/>
          </a:prstGeom>
          <a:ln cap="flat" w="38100">
            <a:solidFill>
              <a:srgbClr val="506FA7"/>
            </a:solidFill>
            <a:prstDash val="solid"/>
            <a:headEnd type="none" len="sm" w="sm"/>
            <a:tailEnd type="triangle" len="med" w="lg"/>
          </a:ln>
        </p:spPr>
      </p:sp>
      <p:sp>
        <p:nvSpPr>
          <p:cNvPr name="AutoShape 35" id="35"/>
          <p:cNvSpPr/>
          <p:nvPr/>
        </p:nvSpPr>
        <p:spPr>
          <a:xfrm>
            <a:off x="6475327" y="8535036"/>
            <a:ext cx="1016909" cy="0"/>
          </a:xfrm>
          <a:prstGeom prst="line">
            <a:avLst/>
          </a:prstGeom>
          <a:ln cap="flat" w="38100">
            <a:solidFill>
              <a:srgbClr val="506FA7"/>
            </a:solidFill>
            <a:prstDash val="solid"/>
            <a:headEnd type="none" len="sm" w="sm"/>
            <a:tailEnd type="triangle" len="med" w="lg"/>
          </a:ln>
        </p:spPr>
      </p:sp>
      <p:sp>
        <p:nvSpPr>
          <p:cNvPr name="AutoShape 36" id="36"/>
          <p:cNvSpPr/>
          <p:nvPr/>
        </p:nvSpPr>
        <p:spPr>
          <a:xfrm>
            <a:off x="11119361" y="8425202"/>
            <a:ext cx="1016909" cy="0"/>
          </a:xfrm>
          <a:prstGeom prst="line">
            <a:avLst/>
          </a:prstGeom>
          <a:ln cap="flat" w="38100">
            <a:solidFill>
              <a:srgbClr val="506FA7"/>
            </a:solidFill>
            <a:prstDash val="solid"/>
            <a:headEnd type="none" len="sm" w="sm"/>
            <a:tailEnd type="triangle" len="med" w="lg"/>
          </a:ln>
        </p:spPr>
      </p:sp>
      <p:sp>
        <p:nvSpPr>
          <p:cNvPr name="Freeform 37" id="37"/>
          <p:cNvSpPr/>
          <p:nvPr/>
        </p:nvSpPr>
        <p:spPr>
          <a:xfrm>
            <a:off x="2647257" y="5221355"/>
            <a:ext cx="11164648" cy="903020"/>
          </a:xfrm>
          <a:custGeom>
            <a:avLst/>
            <a:gdLst/>
            <a:ahLst/>
            <a:cxnLst/>
            <a:rect r="r" b="b" t="t" l="l"/>
            <a:pathLst>
              <a:path h="903020" w="11164648">
                <a:moveTo>
                  <a:pt x="11164647" y="0"/>
                </a:moveTo>
                <a:lnTo>
                  <a:pt x="11164647" y="324269"/>
                </a:lnTo>
                <a:cubicBezTo>
                  <a:pt x="11164647" y="384897"/>
                  <a:pt x="11140563" y="443043"/>
                  <a:pt x="11097692" y="485914"/>
                </a:cubicBezTo>
                <a:cubicBezTo>
                  <a:pt x="11054821" y="528784"/>
                  <a:pt x="10996676" y="552869"/>
                  <a:pt x="10936047" y="552869"/>
                </a:cubicBezTo>
                <a:lnTo>
                  <a:pt x="175075" y="552869"/>
                </a:lnTo>
                <a:cubicBezTo>
                  <a:pt x="78384" y="552869"/>
                  <a:pt x="0" y="631253"/>
                  <a:pt x="0" y="727944"/>
                </a:cubicBezTo>
                <a:lnTo>
                  <a:pt x="0" y="903020"/>
                </a:lnTo>
              </a:path>
            </a:pathLst>
          </a:custGeom>
          <a:ln cap="flat" w="38100">
            <a:solidFill>
              <a:srgbClr val="506FA7"/>
            </a:solidFill>
            <a:prstDash val="solid"/>
            <a:headEnd type="none" len="sm" w="sm"/>
            <a:tailEnd type="triangle" len="med" w="lg"/>
          </a:ln>
        </p:spPr>
      </p:sp>
      <p:sp>
        <p:nvSpPr>
          <p:cNvPr name="Freeform 38" id="38"/>
          <p:cNvSpPr/>
          <p:nvPr/>
        </p:nvSpPr>
        <p:spPr>
          <a:xfrm>
            <a:off x="4644618" y="7140067"/>
            <a:ext cx="11164648" cy="903020"/>
          </a:xfrm>
          <a:custGeom>
            <a:avLst/>
            <a:gdLst/>
            <a:ahLst/>
            <a:cxnLst/>
            <a:rect r="r" b="b" t="t" l="l"/>
            <a:pathLst>
              <a:path h="903020" w="11164648">
                <a:moveTo>
                  <a:pt x="11164648" y="0"/>
                </a:moveTo>
                <a:lnTo>
                  <a:pt x="11164648" y="324270"/>
                </a:lnTo>
                <a:cubicBezTo>
                  <a:pt x="11164648" y="450522"/>
                  <a:pt x="11062301" y="552870"/>
                  <a:pt x="10936048" y="552870"/>
                </a:cubicBezTo>
                <a:lnTo>
                  <a:pt x="175075" y="552870"/>
                </a:lnTo>
                <a:cubicBezTo>
                  <a:pt x="78384" y="552870"/>
                  <a:pt x="0" y="631253"/>
                  <a:pt x="0" y="727945"/>
                </a:cubicBezTo>
                <a:lnTo>
                  <a:pt x="0" y="903020"/>
                </a:lnTo>
              </a:path>
            </a:pathLst>
          </a:custGeom>
          <a:ln cap="flat" w="38100">
            <a:solidFill>
              <a:srgbClr val="506FA7"/>
            </a:solidFill>
            <a:prstDash val="solid"/>
            <a:headEnd type="none" len="sm" w="sm"/>
            <a:tailEnd type="triangle" len="med" w="lg"/>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3092715" y="6172200"/>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3776710" y="-2692577"/>
            <a:ext cx="11065008" cy="8229600"/>
          </a:xfrm>
          <a:custGeom>
            <a:avLst/>
            <a:gdLst/>
            <a:ahLst/>
            <a:cxnLst/>
            <a:rect r="r" b="b" t="t" l="l"/>
            <a:pathLst>
              <a:path h="8229600" w="11065008">
                <a:moveTo>
                  <a:pt x="0" y="0"/>
                </a:moveTo>
                <a:lnTo>
                  <a:pt x="11065009" y="0"/>
                </a:lnTo>
                <a:lnTo>
                  <a:pt x="11065009" y="8229600"/>
                </a:lnTo>
                <a:lnTo>
                  <a:pt x="0" y="8229600"/>
                </a:lnTo>
                <a:lnTo>
                  <a:pt x="0" y="0"/>
                </a:lnTo>
                <a:close/>
              </a:path>
            </a:pathLst>
          </a:custGeom>
          <a:blipFill>
            <a:blip r:embed="rId3">
              <a:alphaModFix amt="20999"/>
            </a:blip>
            <a:stretch>
              <a:fillRect l="0" t="0" r="0" b="0"/>
            </a:stretch>
          </a:blipFill>
        </p:spPr>
      </p:sp>
      <p:sp>
        <p:nvSpPr>
          <p:cNvPr name="Freeform 4" id="4"/>
          <p:cNvSpPr/>
          <p:nvPr/>
        </p:nvSpPr>
        <p:spPr>
          <a:xfrm flipH="false" flipV="false" rot="0">
            <a:off x="7288299" y="-594161"/>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4">
              <a:alphaModFix amt="20999"/>
            </a:blip>
            <a:stretch>
              <a:fillRect l="0" t="0" r="0" b="0"/>
            </a:stretch>
          </a:blipFill>
        </p:spPr>
      </p:sp>
      <p:sp>
        <p:nvSpPr>
          <p:cNvPr name="Freeform 5" id="5"/>
          <p:cNvSpPr/>
          <p:nvPr/>
        </p:nvSpPr>
        <p:spPr>
          <a:xfrm flipH="false" flipV="false" rot="0">
            <a:off x="9723860" y="7305593"/>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4">
              <a:alphaModFix amt="20999"/>
            </a:blip>
            <a:stretch>
              <a:fillRect l="0" t="0" r="0" b="0"/>
            </a:stretch>
          </a:blipFill>
        </p:spPr>
      </p:sp>
      <p:grpSp>
        <p:nvGrpSpPr>
          <p:cNvPr name="Group 6" id="6"/>
          <p:cNvGrpSpPr/>
          <p:nvPr/>
        </p:nvGrpSpPr>
        <p:grpSpPr>
          <a:xfrm rot="0">
            <a:off x="1755795" y="1884036"/>
            <a:ext cx="14769173" cy="7805827"/>
            <a:chOff x="0" y="0"/>
            <a:chExt cx="3889823" cy="2055856"/>
          </a:xfrm>
        </p:grpSpPr>
        <p:sp>
          <p:nvSpPr>
            <p:cNvPr name="Freeform 7" id="7"/>
            <p:cNvSpPr/>
            <p:nvPr/>
          </p:nvSpPr>
          <p:spPr>
            <a:xfrm flipH="false" flipV="false" rot="0">
              <a:off x="0" y="0"/>
              <a:ext cx="3889823" cy="2055856"/>
            </a:xfrm>
            <a:custGeom>
              <a:avLst/>
              <a:gdLst/>
              <a:ahLst/>
              <a:cxnLst/>
              <a:rect r="r" b="b" t="t" l="l"/>
              <a:pathLst>
                <a:path h="2055856" w="3889823">
                  <a:moveTo>
                    <a:pt x="20968" y="0"/>
                  </a:moveTo>
                  <a:lnTo>
                    <a:pt x="3868856" y="0"/>
                  </a:lnTo>
                  <a:cubicBezTo>
                    <a:pt x="3880436" y="0"/>
                    <a:pt x="3889823" y="9388"/>
                    <a:pt x="3889823" y="20968"/>
                  </a:cubicBezTo>
                  <a:lnTo>
                    <a:pt x="3889823" y="2034888"/>
                  </a:lnTo>
                  <a:cubicBezTo>
                    <a:pt x="3889823" y="2046468"/>
                    <a:pt x="3880436" y="2055856"/>
                    <a:pt x="3868856" y="2055856"/>
                  </a:cubicBezTo>
                  <a:lnTo>
                    <a:pt x="20968" y="2055856"/>
                  </a:lnTo>
                  <a:cubicBezTo>
                    <a:pt x="9388" y="2055856"/>
                    <a:pt x="0" y="2046468"/>
                    <a:pt x="0" y="2034888"/>
                  </a:cubicBezTo>
                  <a:lnTo>
                    <a:pt x="0" y="20968"/>
                  </a:lnTo>
                  <a:cubicBezTo>
                    <a:pt x="0" y="9388"/>
                    <a:pt x="9388" y="0"/>
                    <a:pt x="20968" y="0"/>
                  </a:cubicBezTo>
                  <a:close/>
                </a:path>
              </a:pathLst>
            </a:custGeom>
            <a:solidFill>
              <a:srgbClr val="FFFFFF"/>
            </a:solidFill>
            <a:ln w="171450" cap="rnd">
              <a:solidFill>
                <a:srgbClr val="506FA7"/>
              </a:solidFill>
              <a:prstDash val="solid"/>
              <a:round/>
            </a:ln>
          </p:spPr>
        </p:sp>
        <p:sp>
          <p:nvSpPr>
            <p:cNvPr name="TextBox 8" id="8"/>
            <p:cNvSpPr txBox="true"/>
            <p:nvPr/>
          </p:nvSpPr>
          <p:spPr>
            <a:xfrm>
              <a:off x="0" y="-47625"/>
              <a:ext cx="3889823" cy="2103481"/>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731498" y="-213334"/>
            <a:ext cx="2556502" cy="2484067"/>
          </a:xfrm>
          <a:custGeom>
            <a:avLst/>
            <a:gdLst/>
            <a:ahLst/>
            <a:cxnLst/>
            <a:rect r="r" b="b" t="t" l="l"/>
            <a:pathLst>
              <a:path h="2484067" w="2556502">
                <a:moveTo>
                  <a:pt x="0" y="0"/>
                </a:moveTo>
                <a:lnTo>
                  <a:pt x="2556502" y="0"/>
                </a:lnTo>
                <a:lnTo>
                  <a:pt x="2556502" y="2484068"/>
                </a:lnTo>
                <a:lnTo>
                  <a:pt x="0" y="2484068"/>
                </a:lnTo>
                <a:lnTo>
                  <a:pt x="0" y="0"/>
                </a:lnTo>
                <a:close/>
              </a:path>
            </a:pathLst>
          </a:custGeom>
          <a:blipFill>
            <a:blip r:embed="rId5"/>
            <a:stretch>
              <a:fillRect l="0" t="0" r="0" b="0"/>
            </a:stretch>
          </a:blipFill>
        </p:spPr>
      </p:sp>
      <p:sp>
        <p:nvSpPr>
          <p:cNvPr name="Freeform 10" id="10"/>
          <p:cNvSpPr/>
          <p:nvPr/>
        </p:nvSpPr>
        <p:spPr>
          <a:xfrm flipH="true" flipV="false" rot="-4920028">
            <a:off x="184546" y="8027941"/>
            <a:ext cx="2118806" cy="2058773"/>
          </a:xfrm>
          <a:custGeom>
            <a:avLst/>
            <a:gdLst/>
            <a:ahLst/>
            <a:cxnLst/>
            <a:rect r="r" b="b" t="t" l="l"/>
            <a:pathLst>
              <a:path h="2058773" w="2118806">
                <a:moveTo>
                  <a:pt x="2118806" y="0"/>
                </a:moveTo>
                <a:lnTo>
                  <a:pt x="0" y="0"/>
                </a:lnTo>
                <a:lnTo>
                  <a:pt x="0" y="2058773"/>
                </a:lnTo>
                <a:lnTo>
                  <a:pt x="2118806" y="2058773"/>
                </a:lnTo>
                <a:lnTo>
                  <a:pt x="2118806" y="0"/>
                </a:lnTo>
                <a:close/>
              </a:path>
            </a:pathLst>
          </a:custGeom>
          <a:blipFill>
            <a:blip r:embed="rId5"/>
            <a:stretch>
              <a:fillRect l="0" t="0" r="0" b="0"/>
            </a:stretch>
          </a:blipFill>
        </p:spPr>
      </p:sp>
      <p:sp>
        <p:nvSpPr>
          <p:cNvPr name="Freeform 11" id="11"/>
          <p:cNvSpPr/>
          <p:nvPr/>
        </p:nvSpPr>
        <p:spPr>
          <a:xfrm flipH="false" flipV="false" rot="0">
            <a:off x="2410751" y="2052737"/>
            <a:ext cx="13209329" cy="7364265"/>
          </a:xfrm>
          <a:custGeom>
            <a:avLst/>
            <a:gdLst/>
            <a:ahLst/>
            <a:cxnLst/>
            <a:rect r="r" b="b" t="t" l="l"/>
            <a:pathLst>
              <a:path h="7364265" w="13209329">
                <a:moveTo>
                  <a:pt x="0" y="0"/>
                </a:moveTo>
                <a:lnTo>
                  <a:pt x="13209328" y="0"/>
                </a:lnTo>
                <a:lnTo>
                  <a:pt x="13209328" y="7364265"/>
                </a:lnTo>
                <a:lnTo>
                  <a:pt x="0" y="7364265"/>
                </a:lnTo>
                <a:lnTo>
                  <a:pt x="0" y="0"/>
                </a:lnTo>
                <a:close/>
              </a:path>
            </a:pathLst>
          </a:custGeom>
          <a:blipFill>
            <a:blip r:embed="rId6"/>
            <a:stretch>
              <a:fillRect l="0" t="0" r="0" b="0"/>
            </a:stretch>
          </a:blipFill>
        </p:spPr>
      </p:sp>
      <p:sp>
        <p:nvSpPr>
          <p:cNvPr name="TextBox 12" id="12"/>
          <p:cNvSpPr txBox="true"/>
          <p:nvPr/>
        </p:nvSpPr>
        <p:spPr>
          <a:xfrm rot="0">
            <a:off x="2005082" y="469918"/>
            <a:ext cx="14277837" cy="1289685"/>
          </a:xfrm>
          <a:prstGeom prst="rect">
            <a:avLst/>
          </a:prstGeom>
        </p:spPr>
        <p:txBody>
          <a:bodyPr anchor="t" rtlCol="false" tIns="0" lIns="0" bIns="0" rIns="0">
            <a:spAutoFit/>
          </a:bodyPr>
          <a:lstStyle/>
          <a:p>
            <a:pPr algn="ctr">
              <a:lnSpc>
                <a:spcPts val="10320"/>
              </a:lnSpc>
            </a:pPr>
            <a:r>
              <a:rPr lang="en-US" sz="8000" b="true">
                <a:solidFill>
                  <a:srgbClr val="FFD088"/>
                </a:solidFill>
                <a:latin typeface="Roboto Bold"/>
                <a:ea typeface="Roboto Bold"/>
                <a:cs typeface="Roboto Bold"/>
                <a:sym typeface="Roboto Bold"/>
              </a:rPr>
              <a:t>ESTRUCTURA DE FUNCIONES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3092715" y="6172200"/>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2">
              <a:alphaModFix amt="20999"/>
            </a:blip>
            <a:stretch>
              <a:fillRect l="0" t="0" r="0" b="0"/>
            </a:stretch>
          </a:blipFill>
        </p:spPr>
      </p:sp>
      <p:sp>
        <p:nvSpPr>
          <p:cNvPr name="Freeform 3" id="3"/>
          <p:cNvSpPr/>
          <p:nvPr/>
        </p:nvSpPr>
        <p:spPr>
          <a:xfrm flipH="false" flipV="false" rot="0">
            <a:off x="-3901841" y="-2692577"/>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3">
              <a:alphaModFix amt="20999"/>
            </a:blip>
            <a:stretch>
              <a:fillRect l="0" t="0" r="0" b="0"/>
            </a:stretch>
          </a:blipFill>
        </p:spPr>
      </p:sp>
      <p:sp>
        <p:nvSpPr>
          <p:cNvPr name="Freeform 4" id="4"/>
          <p:cNvSpPr/>
          <p:nvPr/>
        </p:nvSpPr>
        <p:spPr>
          <a:xfrm flipH="false" flipV="false" rot="0">
            <a:off x="7286992" y="-645333"/>
            <a:ext cx="11065008" cy="8229600"/>
          </a:xfrm>
          <a:custGeom>
            <a:avLst/>
            <a:gdLst/>
            <a:ahLst/>
            <a:cxnLst/>
            <a:rect r="r" b="b" t="t" l="l"/>
            <a:pathLst>
              <a:path h="8229600" w="11065008">
                <a:moveTo>
                  <a:pt x="0" y="0"/>
                </a:moveTo>
                <a:lnTo>
                  <a:pt x="11065009" y="0"/>
                </a:lnTo>
                <a:lnTo>
                  <a:pt x="11065009" y="8229600"/>
                </a:lnTo>
                <a:lnTo>
                  <a:pt x="0" y="8229600"/>
                </a:lnTo>
                <a:lnTo>
                  <a:pt x="0" y="0"/>
                </a:lnTo>
                <a:close/>
              </a:path>
            </a:pathLst>
          </a:custGeom>
          <a:blipFill>
            <a:blip r:embed="rId4">
              <a:alphaModFix amt="20999"/>
            </a:blip>
            <a:stretch>
              <a:fillRect l="0" t="0" r="0" b="0"/>
            </a:stretch>
          </a:blipFill>
        </p:spPr>
      </p:sp>
      <p:sp>
        <p:nvSpPr>
          <p:cNvPr name="Freeform 5" id="5"/>
          <p:cNvSpPr/>
          <p:nvPr/>
        </p:nvSpPr>
        <p:spPr>
          <a:xfrm flipH="false" flipV="false" rot="0">
            <a:off x="9723860" y="7305593"/>
            <a:ext cx="11065008" cy="8229600"/>
          </a:xfrm>
          <a:custGeom>
            <a:avLst/>
            <a:gdLst/>
            <a:ahLst/>
            <a:cxnLst/>
            <a:rect r="r" b="b" t="t" l="l"/>
            <a:pathLst>
              <a:path h="8229600" w="11065008">
                <a:moveTo>
                  <a:pt x="0" y="0"/>
                </a:moveTo>
                <a:lnTo>
                  <a:pt x="11065008" y="0"/>
                </a:lnTo>
                <a:lnTo>
                  <a:pt x="11065008" y="8229600"/>
                </a:lnTo>
                <a:lnTo>
                  <a:pt x="0" y="8229600"/>
                </a:lnTo>
                <a:lnTo>
                  <a:pt x="0" y="0"/>
                </a:lnTo>
                <a:close/>
              </a:path>
            </a:pathLst>
          </a:custGeom>
          <a:blipFill>
            <a:blip r:embed="rId4">
              <a:alphaModFix amt="20999"/>
            </a:blip>
            <a:stretch>
              <a:fillRect l="0" t="0" r="0" b="0"/>
            </a:stretch>
          </a:blipFill>
        </p:spPr>
      </p:sp>
      <p:grpSp>
        <p:nvGrpSpPr>
          <p:cNvPr name="Group 6" id="6"/>
          <p:cNvGrpSpPr/>
          <p:nvPr/>
        </p:nvGrpSpPr>
        <p:grpSpPr>
          <a:xfrm rot="0">
            <a:off x="1755795" y="2250463"/>
            <a:ext cx="14769173" cy="7439401"/>
            <a:chOff x="0" y="0"/>
            <a:chExt cx="3889823" cy="1959348"/>
          </a:xfrm>
        </p:grpSpPr>
        <p:sp>
          <p:nvSpPr>
            <p:cNvPr name="Freeform 7" id="7"/>
            <p:cNvSpPr/>
            <p:nvPr/>
          </p:nvSpPr>
          <p:spPr>
            <a:xfrm flipH="false" flipV="false" rot="0">
              <a:off x="0" y="0"/>
              <a:ext cx="3889823" cy="1959348"/>
            </a:xfrm>
            <a:custGeom>
              <a:avLst/>
              <a:gdLst/>
              <a:ahLst/>
              <a:cxnLst/>
              <a:rect r="r" b="b" t="t" l="l"/>
              <a:pathLst>
                <a:path h="1959348" w="3889823">
                  <a:moveTo>
                    <a:pt x="20968" y="0"/>
                  </a:moveTo>
                  <a:lnTo>
                    <a:pt x="3868856" y="0"/>
                  </a:lnTo>
                  <a:cubicBezTo>
                    <a:pt x="3880436" y="0"/>
                    <a:pt x="3889823" y="9388"/>
                    <a:pt x="3889823" y="20968"/>
                  </a:cubicBezTo>
                  <a:lnTo>
                    <a:pt x="3889823" y="1938381"/>
                  </a:lnTo>
                  <a:cubicBezTo>
                    <a:pt x="3889823" y="1949961"/>
                    <a:pt x="3880436" y="1959348"/>
                    <a:pt x="3868856" y="1959348"/>
                  </a:cubicBezTo>
                  <a:lnTo>
                    <a:pt x="20968" y="1959348"/>
                  </a:lnTo>
                  <a:cubicBezTo>
                    <a:pt x="9388" y="1959348"/>
                    <a:pt x="0" y="1949961"/>
                    <a:pt x="0" y="1938381"/>
                  </a:cubicBezTo>
                  <a:lnTo>
                    <a:pt x="0" y="20968"/>
                  </a:lnTo>
                  <a:cubicBezTo>
                    <a:pt x="0" y="9388"/>
                    <a:pt x="9388" y="0"/>
                    <a:pt x="20968" y="0"/>
                  </a:cubicBezTo>
                  <a:close/>
                </a:path>
              </a:pathLst>
            </a:custGeom>
            <a:solidFill>
              <a:srgbClr val="FFFFFF"/>
            </a:solidFill>
            <a:ln w="171450" cap="rnd">
              <a:solidFill>
                <a:srgbClr val="506FA7"/>
              </a:solidFill>
              <a:prstDash val="solid"/>
              <a:round/>
            </a:ln>
          </p:spPr>
        </p:sp>
        <p:sp>
          <p:nvSpPr>
            <p:cNvPr name="TextBox 8" id="8"/>
            <p:cNvSpPr txBox="true"/>
            <p:nvPr/>
          </p:nvSpPr>
          <p:spPr>
            <a:xfrm>
              <a:off x="0" y="-47625"/>
              <a:ext cx="3889823" cy="2006973"/>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false" rot="0">
            <a:off x="15731498" y="-213334"/>
            <a:ext cx="2556502" cy="2484067"/>
          </a:xfrm>
          <a:custGeom>
            <a:avLst/>
            <a:gdLst/>
            <a:ahLst/>
            <a:cxnLst/>
            <a:rect r="r" b="b" t="t" l="l"/>
            <a:pathLst>
              <a:path h="2484067" w="2556502">
                <a:moveTo>
                  <a:pt x="0" y="0"/>
                </a:moveTo>
                <a:lnTo>
                  <a:pt x="2556502" y="0"/>
                </a:lnTo>
                <a:lnTo>
                  <a:pt x="2556502" y="2484068"/>
                </a:lnTo>
                <a:lnTo>
                  <a:pt x="0" y="2484068"/>
                </a:lnTo>
                <a:lnTo>
                  <a:pt x="0" y="0"/>
                </a:lnTo>
                <a:close/>
              </a:path>
            </a:pathLst>
          </a:custGeom>
          <a:blipFill>
            <a:blip r:embed="rId5"/>
            <a:stretch>
              <a:fillRect l="0" t="0" r="0" b="0"/>
            </a:stretch>
          </a:blipFill>
        </p:spPr>
      </p:sp>
      <p:sp>
        <p:nvSpPr>
          <p:cNvPr name="Freeform 10" id="10"/>
          <p:cNvSpPr/>
          <p:nvPr/>
        </p:nvSpPr>
        <p:spPr>
          <a:xfrm flipH="true" flipV="false" rot="-4920028">
            <a:off x="184546" y="8027941"/>
            <a:ext cx="2118806" cy="2058773"/>
          </a:xfrm>
          <a:custGeom>
            <a:avLst/>
            <a:gdLst/>
            <a:ahLst/>
            <a:cxnLst/>
            <a:rect r="r" b="b" t="t" l="l"/>
            <a:pathLst>
              <a:path h="2058773" w="2118806">
                <a:moveTo>
                  <a:pt x="2118806" y="0"/>
                </a:moveTo>
                <a:lnTo>
                  <a:pt x="0" y="0"/>
                </a:lnTo>
                <a:lnTo>
                  <a:pt x="0" y="2058773"/>
                </a:lnTo>
                <a:lnTo>
                  <a:pt x="2118806" y="2058773"/>
                </a:lnTo>
                <a:lnTo>
                  <a:pt x="2118806" y="0"/>
                </a:lnTo>
                <a:close/>
              </a:path>
            </a:pathLst>
          </a:custGeom>
          <a:blipFill>
            <a:blip r:embed="rId5"/>
            <a:stretch>
              <a:fillRect l="0" t="0" r="0" b="0"/>
            </a:stretch>
          </a:blipFill>
        </p:spPr>
      </p:sp>
      <p:grpSp>
        <p:nvGrpSpPr>
          <p:cNvPr name="Group 11" id="11"/>
          <p:cNvGrpSpPr/>
          <p:nvPr/>
        </p:nvGrpSpPr>
        <p:grpSpPr>
          <a:xfrm rot="0">
            <a:off x="3717960" y="217415"/>
            <a:ext cx="10863892" cy="1622571"/>
            <a:chOff x="0" y="0"/>
            <a:chExt cx="2861272" cy="427344"/>
          </a:xfrm>
        </p:grpSpPr>
        <p:sp>
          <p:nvSpPr>
            <p:cNvPr name="Freeform 12" id="12"/>
            <p:cNvSpPr/>
            <p:nvPr/>
          </p:nvSpPr>
          <p:spPr>
            <a:xfrm flipH="false" flipV="false" rot="0">
              <a:off x="0" y="0"/>
              <a:ext cx="2861272" cy="427344"/>
            </a:xfrm>
            <a:custGeom>
              <a:avLst/>
              <a:gdLst/>
              <a:ahLst/>
              <a:cxnLst/>
              <a:rect r="r" b="b" t="t" l="l"/>
              <a:pathLst>
                <a:path h="427344" w="2861272">
                  <a:moveTo>
                    <a:pt x="28505" y="0"/>
                  </a:moveTo>
                  <a:lnTo>
                    <a:pt x="2832767" y="0"/>
                  </a:lnTo>
                  <a:cubicBezTo>
                    <a:pt x="2848510" y="0"/>
                    <a:pt x="2861272" y="12762"/>
                    <a:pt x="2861272" y="28505"/>
                  </a:cubicBezTo>
                  <a:lnTo>
                    <a:pt x="2861272" y="398839"/>
                  </a:lnTo>
                  <a:cubicBezTo>
                    <a:pt x="2861272" y="414582"/>
                    <a:pt x="2848510" y="427344"/>
                    <a:pt x="2832767" y="427344"/>
                  </a:cubicBezTo>
                  <a:lnTo>
                    <a:pt x="28505" y="427344"/>
                  </a:lnTo>
                  <a:cubicBezTo>
                    <a:pt x="12762" y="427344"/>
                    <a:pt x="0" y="414582"/>
                    <a:pt x="0" y="398839"/>
                  </a:cubicBezTo>
                  <a:lnTo>
                    <a:pt x="0" y="28505"/>
                  </a:lnTo>
                  <a:cubicBezTo>
                    <a:pt x="0" y="12762"/>
                    <a:pt x="12762" y="0"/>
                    <a:pt x="28505" y="0"/>
                  </a:cubicBezTo>
                  <a:close/>
                </a:path>
              </a:pathLst>
            </a:custGeom>
            <a:solidFill>
              <a:srgbClr val="FFFFFF"/>
            </a:solidFill>
            <a:ln w="171450" cap="rnd">
              <a:solidFill>
                <a:srgbClr val="506FA7"/>
              </a:solidFill>
              <a:prstDash val="solid"/>
              <a:round/>
            </a:ln>
          </p:spPr>
        </p:sp>
        <p:sp>
          <p:nvSpPr>
            <p:cNvPr name="TextBox 13" id="13"/>
            <p:cNvSpPr txBox="true"/>
            <p:nvPr/>
          </p:nvSpPr>
          <p:spPr>
            <a:xfrm>
              <a:off x="0" y="-47625"/>
              <a:ext cx="2861272" cy="474969"/>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2005082" y="322226"/>
            <a:ext cx="14277837" cy="1289685"/>
          </a:xfrm>
          <a:prstGeom prst="rect">
            <a:avLst/>
          </a:prstGeom>
        </p:spPr>
        <p:txBody>
          <a:bodyPr anchor="t" rtlCol="false" tIns="0" lIns="0" bIns="0" rIns="0">
            <a:spAutoFit/>
          </a:bodyPr>
          <a:lstStyle/>
          <a:p>
            <a:pPr algn="ctr">
              <a:lnSpc>
                <a:spcPts val="10320"/>
              </a:lnSpc>
            </a:pPr>
            <a:r>
              <a:rPr lang="en-US" sz="8000" b="true">
                <a:solidFill>
                  <a:srgbClr val="FFD088"/>
                </a:solidFill>
                <a:latin typeface="Roboto Bold"/>
                <a:ea typeface="Roboto Bold"/>
                <a:cs typeface="Roboto Bold"/>
                <a:sym typeface="Roboto Bold"/>
              </a:rPr>
              <a:t>DIAGRAMA DE GANTT</a:t>
            </a:r>
          </a:p>
        </p:txBody>
      </p:sp>
      <p:grpSp>
        <p:nvGrpSpPr>
          <p:cNvPr name="Group 15" id="15"/>
          <p:cNvGrpSpPr/>
          <p:nvPr/>
        </p:nvGrpSpPr>
        <p:grpSpPr>
          <a:xfrm rot="0">
            <a:off x="3856214" y="2623013"/>
            <a:ext cx="10575572" cy="6694301"/>
            <a:chOff x="0" y="0"/>
            <a:chExt cx="14100762" cy="8925735"/>
          </a:xfrm>
        </p:grpSpPr>
        <p:sp>
          <p:nvSpPr>
            <p:cNvPr name="Freeform 16" id="16"/>
            <p:cNvSpPr/>
            <p:nvPr/>
          </p:nvSpPr>
          <p:spPr>
            <a:xfrm flipH="false" flipV="false" rot="0">
              <a:off x="0" y="0"/>
              <a:ext cx="14100762" cy="8925735"/>
            </a:xfrm>
            <a:custGeom>
              <a:avLst/>
              <a:gdLst/>
              <a:ahLst/>
              <a:cxnLst/>
              <a:rect r="r" b="b" t="t" l="l"/>
              <a:pathLst>
                <a:path h="8925735" w="14100762">
                  <a:moveTo>
                    <a:pt x="0" y="0"/>
                  </a:moveTo>
                  <a:lnTo>
                    <a:pt x="14100762" y="0"/>
                  </a:lnTo>
                  <a:lnTo>
                    <a:pt x="14100762" y="8925735"/>
                  </a:lnTo>
                  <a:lnTo>
                    <a:pt x="0" y="8925735"/>
                  </a:lnTo>
                  <a:lnTo>
                    <a:pt x="0" y="0"/>
                  </a:lnTo>
                  <a:close/>
                </a:path>
              </a:pathLst>
            </a:custGeom>
            <a:blipFill>
              <a:blip r:embed="rId6"/>
              <a:stretch>
                <a:fillRect l="0" t="0" r="0" b="0"/>
              </a:stretch>
            </a:blipFill>
          </p:spPr>
        </p:sp>
        <p:sp>
          <p:nvSpPr>
            <p:cNvPr name="Freeform 17" id="17"/>
            <p:cNvSpPr/>
            <p:nvPr/>
          </p:nvSpPr>
          <p:spPr>
            <a:xfrm flipH="false" flipV="false" rot="-2235469">
              <a:off x="328552" y="1331796"/>
              <a:ext cx="212354" cy="379203"/>
            </a:xfrm>
            <a:custGeom>
              <a:avLst/>
              <a:gdLst/>
              <a:ahLst/>
              <a:cxnLst/>
              <a:rect r="r" b="b" t="t" l="l"/>
              <a:pathLst>
                <a:path h="379203" w="212354">
                  <a:moveTo>
                    <a:pt x="0" y="0"/>
                  </a:moveTo>
                  <a:lnTo>
                    <a:pt x="212354" y="0"/>
                  </a:lnTo>
                  <a:lnTo>
                    <a:pt x="212354" y="379203"/>
                  </a:lnTo>
                  <a:lnTo>
                    <a:pt x="0" y="37920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5336163">
              <a:off x="794153" y="1774326"/>
              <a:ext cx="250615" cy="447526"/>
            </a:xfrm>
            <a:custGeom>
              <a:avLst/>
              <a:gdLst/>
              <a:ahLst/>
              <a:cxnLst/>
              <a:rect r="r" b="b" t="t" l="l"/>
              <a:pathLst>
                <a:path h="447526" w="250615">
                  <a:moveTo>
                    <a:pt x="0" y="0"/>
                  </a:moveTo>
                  <a:lnTo>
                    <a:pt x="250615" y="0"/>
                  </a:lnTo>
                  <a:lnTo>
                    <a:pt x="250615" y="447527"/>
                  </a:lnTo>
                  <a:lnTo>
                    <a:pt x="0" y="4475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p:cNvSpPr/>
            <p:nvPr/>
          </p:nvSpPr>
          <p:spPr>
            <a:xfrm flipH="false" flipV="false" rot="-5336163">
              <a:off x="1410822" y="2101002"/>
              <a:ext cx="250615" cy="447526"/>
            </a:xfrm>
            <a:custGeom>
              <a:avLst/>
              <a:gdLst/>
              <a:ahLst/>
              <a:cxnLst/>
              <a:rect r="r" b="b" t="t" l="l"/>
              <a:pathLst>
                <a:path h="447526" w="250615">
                  <a:moveTo>
                    <a:pt x="0" y="0"/>
                  </a:moveTo>
                  <a:lnTo>
                    <a:pt x="250615" y="0"/>
                  </a:lnTo>
                  <a:lnTo>
                    <a:pt x="250615" y="447526"/>
                  </a:lnTo>
                  <a:lnTo>
                    <a:pt x="0" y="447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5336163">
              <a:off x="2274956" y="2149156"/>
              <a:ext cx="918593" cy="1640344"/>
            </a:xfrm>
            <a:custGeom>
              <a:avLst/>
              <a:gdLst/>
              <a:ahLst/>
              <a:cxnLst/>
              <a:rect r="r" b="b" t="t" l="l"/>
              <a:pathLst>
                <a:path h="1640344" w="918593">
                  <a:moveTo>
                    <a:pt x="0" y="0"/>
                  </a:moveTo>
                  <a:lnTo>
                    <a:pt x="918593" y="0"/>
                  </a:lnTo>
                  <a:lnTo>
                    <a:pt x="918593" y="1640345"/>
                  </a:lnTo>
                  <a:lnTo>
                    <a:pt x="0" y="1640345"/>
                  </a:lnTo>
                  <a:lnTo>
                    <a:pt x="0" y="0"/>
                  </a:lnTo>
                  <a:close/>
                </a:path>
              </a:pathLst>
            </a:custGeom>
            <a:blipFill>
              <a:blip r:embed="rId7">
                <a:alphaModFix amt="50000"/>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1" id="21"/>
            <p:cNvSpPr/>
            <p:nvPr/>
          </p:nvSpPr>
          <p:spPr>
            <a:xfrm flipH="false" flipV="false" rot="-5336163">
              <a:off x="2042474" y="2479337"/>
              <a:ext cx="215287" cy="384441"/>
            </a:xfrm>
            <a:custGeom>
              <a:avLst/>
              <a:gdLst/>
              <a:ahLst/>
              <a:cxnLst/>
              <a:rect r="r" b="b" t="t" l="l"/>
              <a:pathLst>
                <a:path h="384441" w="215287">
                  <a:moveTo>
                    <a:pt x="0" y="0"/>
                  </a:moveTo>
                  <a:lnTo>
                    <a:pt x="215287" y="0"/>
                  </a:lnTo>
                  <a:lnTo>
                    <a:pt x="215287" y="384441"/>
                  </a:lnTo>
                  <a:lnTo>
                    <a:pt x="0" y="3844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2" id="22"/>
            <p:cNvSpPr/>
            <p:nvPr/>
          </p:nvSpPr>
          <p:spPr>
            <a:xfrm flipH="false" flipV="false" rot="-4421220">
              <a:off x="2818036" y="2728685"/>
              <a:ext cx="902064" cy="1610829"/>
            </a:xfrm>
            <a:custGeom>
              <a:avLst/>
              <a:gdLst/>
              <a:ahLst/>
              <a:cxnLst/>
              <a:rect r="r" b="b" t="t" l="l"/>
              <a:pathLst>
                <a:path h="1610829" w="902064">
                  <a:moveTo>
                    <a:pt x="0" y="0"/>
                  </a:moveTo>
                  <a:lnTo>
                    <a:pt x="902064" y="0"/>
                  </a:lnTo>
                  <a:lnTo>
                    <a:pt x="902064" y="1610829"/>
                  </a:lnTo>
                  <a:lnTo>
                    <a:pt x="0" y="1610829"/>
                  </a:lnTo>
                  <a:lnTo>
                    <a:pt x="0" y="0"/>
                  </a:lnTo>
                  <a:close/>
                </a:path>
              </a:pathLst>
            </a:custGeom>
            <a:blipFill>
              <a:blip r:embed="rId7">
                <a:alphaModFix amt="49000"/>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3600811">
              <a:off x="4245081" y="3838623"/>
              <a:ext cx="172436" cy="307922"/>
            </a:xfrm>
            <a:custGeom>
              <a:avLst/>
              <a:gdLst/>
              <a:ahLst/>
              <a:cxnLst/>
              <a:rect r="r" b="b" t="t" l="l"/>
              <a:pathLst>
                <a:path h="307922" w="172436">
                  <a:moveTo>
                    <a:pt x="0" y="0"/>
                  </a:moveTo>
                  <a:lnTo>
                    <a:pt x="172436" y="0"/>
                  </a:lnTo>
                  <a:lnTo>
                    <a:pt x="172436" y="307922"/>
                  </a:lnTo>
                  <a:lnTo>
                    <a:pt x="0" y="3079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4014639">
              <a:off x="4651540" y="4178931"/>
              <a:ext cx="172436" cy="307922"/>
            </a:xfrm>
            <a:custGeom>
              <a:avLst/>
              <a:gdLst/>
              <a:ahLst/>
              <a:cxnLst/>
              <a:rect r="r" b="b" t="t" l="l"/>
              <a:pathLst>
                <a:path h="307922" w="172436">
                  <a:moveTo>
                    <a:pt x="0" y="0"/>
                  </a:moveTo>
                  <a:lnTo>
                    <a:pt x="172437" y="0"/>
                  </a:lnTo>
                  <a:lnTo>
                    <a:pt x="172437" y="307922"/>
                  </a:lnTo>
                  <a:lnTo>
                    <a:pt x="0" y="3079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5" id="25"/>
            <p:cNvSpPr/>
            <p:nvPr/>
          </p:nvSpPr>
          <p:spPr>
            <a:xfrm flipH="false" flipV="false" rot="-4991849">
              <a:off x="5212976" y="4400831"/>
              <a:ext cx="296476" cy="529421"/>
            </a:xfrm>
            <a:custGeom>
              <a:avLst/>
              <a:gdLst/>
              <a:ahLst/>
              <a:cxnLst/>
              <a:rect r="r" b="b" t="t" l="l"/>
              <a:pathLst>
                <a:path h="529421" w="296476">
                  <a:moveTo>
                    <a:pt x="0" y="0"/>
                  </a:moveTo>
                  <a:lnTo>
                    <a:pt x="296476" y="0"/>
                  </a:lnTo>
                  <a:lnTo>
                    <a:pt x="296476" y="529421"/>
                  </a:lnTo>
                  <a:lnTo>
                    <a:pt x="0" y="52942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6" id="26"/>
            <p:cNvSpPr/>
            <p:nvPr/>
          </p:nvSpPr>
          <p:spPr>
            <a:xfrm flipH="false" flipV="false" rot="-3639532">
              <a:off x="5693439" y="4840645"/>
              <a:ext cx="176747" cy="315619"/>
            </a:xfrm>
            <a:custGeom>
              <a:avLst/>
              <a:gdLst/>
              <a:ahLst/>
              <a:cxnLst/>
              <a:rect r="r" b="b" t="t" l="l"/>
              <a:pathLst>
                <a:path h="315619" w="176747">
                  <a:moveTo>
                    <a:pt x="0" y="0"/>
                  </a:moveTo>
                  <a:lnTo>
                    <a:pt x="176746" y="0"/>
                  </a:lnTo>
                  <a:lnTo>
                    <a:pt x="176746" y="315619"/>
                  </a:lnTo>
                  <a:lnTo>
                    <a:pt x="0" y="3156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7" id="27"/>
            <p:cNvSpPr/>
            <p:nvPr/>
          </p:nvSpPr>
          <p:spPr>
            <a:xfrm flipH="false" flipV="false" rot="-4899018">
              <a:off x="6441615" y="4915015"/>
              <a:ext cx="1083393" cy="1934630"/>
            </a:xfrm>
            <a:custGeom>
              <a:avLst/>
              <a:gdLst/>
              <a:ahLst/>
              <a:cxnLst/>
              <a:rect r="r" b="b" t="t" l="l"/>
              <a:pathLst>
                <a:path h="1934630" w="1083393">
                  <a:moveTo>
                    <a:pt x="0" y="0"/>
                  </a:moveTo>
                  <a:lnTo>
                    <a:pt x="1083393" y="0"/>
                  </a:lnTo>
                  <a:lnTo>
                    <a:pt x="1083393" y="1934630"/>
                  </a:lnTo>
                  <a:lnTo>
                    <a:pt x="0" y="1934630"/>
                  </a:lnTo>
                  <a:lnTo>
                    <a:pt x="0" y="0"/>
                  </a:lnTo>
                  <a:close/>
                </a:path>
              </a:pathLst>
            </a:custGeom>
            <a:blipFill>
              <a:blip r:embed="rId7">
                <a:alphaModFix amt="58000"/>
                <a:extLst>
                  <a:ext uri="{96DAC541-7B7A-43D3-8B79-37D633B846F1}">
                    <asvg:svgBlip xmlns:asvg="http://schemas.microsoft.com/office/drawing/2016/SVG/main" r:embed="rId8"/>
                  </a:ext>
                </a:extLst>
              </a:blip>
              <a:stretch>
                <a:fillRect l="0" t="0" r="0" b="0"/>
              </a:stretch>
            </a:blipFill>
          </p:spPr>
        </p:sp>
        <p:sp>
          <p:nvSpPr>
            <p:cNvPr name="Freeform 28" id="28"/>
            <p:cNvSpPr/>
            <p:nvPr/>
          </p:nvSpPr>
          <p:spPr>
            <a:xfrm flipH="false" flipV="false" rot="-4899018">
              <a:off x="6313987" y="4991737"/>
              <a:ext cx="653438" cy="1166854"/>
            </a:xfrm>
            <a:custGeom>
              <a:avLst/>
              <a:gdLst/>
              <a:ahLst/>
              <a:cxnLst/>
              <a:rect r="r" b="b" t="t" l="l"/>
              <a:pathLst>
                <a:path h="1166854" w="653438">
                  <a:moveTo>
                    <a:pt x="0" y="0"/>
                  </a:moveTo>
                  <a:lnTo>
                    <a:pt x="653439" y="0"/>
                  </a:lnTo>
                  <a:lnTo>
                    <a:pt x="653439" y="1166854"/>
                  </a:lnTo>
                  <a:lnTo>
                    <a:pt x="0" y="1166854"/>
                  </a:lnTo>
                  <a:lnTo>
                    <a:pt x="0" y="0"/>
                  </a:lnTo>
                  <a:close/>
                </a:path>
              </a:pathLst>
            </a:custGeom>
            <a:blipFill>
              <a:blip r:embed="rId7">
                <a:alphaModFix amt="58000"/>
                <a:extLst>
                  <a:ext uri="{96DAC541-7B7A-43D3-8B79-37D633B846F1}">
                    <asvg:svgBlip xmlns:asvg="http://schemas.microsoft.com/office/drawing/2016/SVG/main" r:embed="rId8"/>
                  </a:ext>
                </a:extLst>
              </a:blip>
              <a:stretch>
                <a:fillRect l="0" t="0" r="0" b="0"/>
              </a:stretch>
            </a:blipFill>
          </p:spPr>
        </p:sp>
        <p:sp>
          <p:nvSpPr>
            <p:cNvPr name="Freeform 29" id="29"/>
            <p:cNvSpPr/>
            <p:nvPr/>
          </p:nvSpPr>
          <p:spPr>
            <a:xfrm flipH="false" flipV="false" rot="-4991849">
              <a:off x="9129868" y="6115493"/>
              <a:ext cx="296476" cy="529421"/>
            </a:xfrm>
            <a:custGeom>
              <a:avLst/>
              <a:gdLst/>
              <a:ahLst/>
              <a:cxnLst/>
              <a:rect r="r" b="b" t="t" l="l"/>
              <a:pathLst>
                <a:path h="529421" w="296476">
                  <a:moveTo>
                    <a:pt x="0" y="0"/>
                  </a:moveTo>
                  <a:lnTo>
                    <a:pt x="296476" y="0"/>
                  </a:lnTo>
                  <a:lnTo>
                    <a:pt x="296476" y="529421"/>
                  </a:lnTo>
                  <a:lnTo>
                    <a:pt x="0" y="52942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0" id="30"/>
            <p:cNvSpPr/>
            <p:nvPr/>
          </p:nvSpPr>
          <p:spPr>
            <a:xfrm flipH="false" flipV="false" rot="-3184528">
              <a:off x="9570120" y="6501436"/>
              <a:ext cx="567949" cy="1014195"/>
            </a:xfrm>
            <a:custGeom>
              <a:avLst/>
              <a:gdLst/>
              <a:ahLst/>
              <a:cxnLst/>
              <a:rect r="r" b="b" t="t" l="l"/>
              <a:pathLst>
                <a:path h="1014195" w="567949">
                  <a:moveTo>
                    <a:pt x="0" y="0"/>
                  </a:moveTo>
                  <a:lnTo>
                    <a:pt x="567950" y="0"/>
                  </a:lnTo>
                  <a:lnTo>
                    <a:pt x="567950" y="1014195"/>
                  </a:lnTo>
                  <a:lnTo>
                    <a:pt x="0" y="101419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1" id="31"/>
            <p:cNvSpPr/>
            <p:nvPr/>
          </p:nvSpPr>
          <p:spPr>
            <a:xfrm flipH="false" flipV="false" rot="-3600811">
              <a:off x="9594851" y="6501980"/>
              <a:ext cx="187349" cy="334552"/>
            </a:xfrm>
            <a:custGeom>
              <a:avLst/>
              <a:gdLst/>
              <a:ahLst/>
              <a:cxnLst/>
              <a:rect r="r" b="b" t="t" l="l"/>
              <a:pathLst>
                <a:path h="334552" w="187349">
                  <a:moveTo>
                    <a:pt x="0" y="0"/>
                  </a:moveTo>
                  <a:lnTo>
                    <a:pt x="187350" y="0"/>
                  </a:lnTo>
                  <a:lnTo>
                    <a:pt x="187350" y="334552"/>
                  </a:lnTo>
                  <a:lnTo>
                    <a:pt x="0" y="33455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2" id="32"/>
            <p:cNvSpPr/>
            <p:nvPr/>
          </p:nvSpPr>
          <p:spPr>
            <a:xfrm flipH="false" flipV="false" rot="-3639532">
              <a:off x="10341711" y="7482516"/>
              <a:ext cx="176747" cy="315619"/>
            </a:xfrm>
            <a:custGeom>
              <a:avLst/>
              <a:gdLst/>
              <a:ahLst/>
              <a:cxnLst/>
              <a:rect r="r" b="b" t="t" l="l"/>
              <a:pathLst>
                <a:path h="315619" w="176747">
                  <a:moveTo>
                    <a:pt x="0" y="0"/>
                  </a:moveTo>
                  <a:lnTo>
                    <a:pt x="176746" y="0"/>
                  </a:lnTo>
                  <a:lnTo>
                    <a:pt x="176746" y="315619"/>
                  </a:lnTo>
                  <a:lnTo>
                    <a:pt x="0" y="3156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3" id="33"/>
            <p:cNvSpPr/>
            <p:nvPr/>
          </p:nvSpPr>
          <p:spPr>
            <a:xfrm flipH="false" flipV="false" rot="-4222144">
              <a:off x="10783128" y="7823913"/>
              <a:ext cx="205095" cy="366241"/>
            </a:xfrm>
            <a:custGeom>
              <a:avLst/>
              <a:gdLst/>
              <a:ahLst/>
              <a:cxnLst/>
              <a:rect r="r" b="b" t="t" l="l"/>
              <a:pathLst>
                <a:path h="366241" w="205095">
                  <a:moveTo>
                    <a:pt x="0" y="0"/>
                  </a:moveTo>
                  <a:lnTo>
                    <a:pt x="205096" y="0"/>
                  </a:lnTo>
                  <a:lnTo>
                    <a:pt x="205096" y="366241"/>
                  </a:lnTo>
                  <a:lnTo>
                    <a:pt x="0" y="3662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4" id="34"/>
            <p:cNvSpPr/>
            <p:nvPr/>
          </p:nvSpPr>
          <p:spPr>
            <a:xfrm flipH="false" flipV="false" rot="-3101914">
              <a:off x="11106487" y="8135318"/>
              <a:ext cx="205095" cy="366241"/>
            </a:xfrm>
            <a:custGeom>
              <a:avLst/>
              <a:gdLst/>
              <a:ahLst/>
              <a:cxnLst/>
              <a:rect r="r" b="b" t="t" l="l"/>
              <a:pathLst>
                <a:path h="366241" w="205095">
                  <a:moveTo>
                    <a:pt x="0" y="0"/>
                  </a:moveTo>
                  <a:lnTo>
                    <a:pt x="205095" y="0"/>
                  </a:lnTo>
                  <a:lnTo>
                    <a:pt x="205095" y="366241"/>
                  </a:lnTo>
                  <a:lnTo>
                    <a:pt x="0" y="36624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5" id="35"/>
            <p:cNvSpPr/>
            <p:nvPr/>
          </p:nvSpPr>
          <p:spPr>
            <a:xfrm flipH="false" flipV="false" rot="-4991849">
              <a:off x="11629820" y="8426250"/>
              <a:ext cx="296476" cy="529421"/>
            </a:xfrm>
            <a:custGeom>
              <a:avLst/>
              <a:gdLst/>
              <a:ahLst/>
              <a:cxnLst/>
              <a:rect r="r" b="b" t="t" l="l"/>
              <a:pathLst>
                <a:path h="529421" w="296476">
                  <a:moveTo>
                    <a:pt x="0" y="0"/>
                  </a:moveTo>
                  <a:lnTo>
                    <a:pt x="296476" y="0"/>
                  </a:lnTo>
                  <a:lnTo>
                    <a:pt x="296476" y="529421"/>
                  </a:lnTo>
                  <a:lnTo>
                    <a:pt x="0" y="52942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5FCFF"/>
        </a:solidFill>
      </p:bgPr>
    </p:bg>
    <p:spTree>
      <p:nvGrpSpPr>
        <p:cNvPr id="1" name=""/>
        <p:cNvGrpSpPr/>
        <p:nvPr/>
      </p:nvGrpSpPr>
      <p:grpSpPr>
        <a:xfrm>
          <a:off x="0" y="0"/>
          <a:ext cx="0" cy="0"/>
          <a:chOff x="0" y="0"/>
          <a:chExt cx="0" cy="0"/>
        </a:xfrm>
      </p:grpSpPr>
      <p:sp>
        <p:nvSpPr>
          <p:cNvPr name="Freeform 2" id="2"/>
          <p:cNvSpPr/>
          <p:nvPr/>
        </p:nvSpPr>
        <p:spPr>
          <a:xfrm flipH="false" flipV="false" rot="0">
            <a:off x="-343593" y="7960263"/>
            <a:ext cx="4198776" cy="4114800"/>
          </a:xfrm>
          <a:custGeom>
            <a:avLst/>
            <a:gdLst/>
            <a:ahLst/>
            <a:cxnLst/>
            <a:rect r="r" b="b" t="t" l="l"/>
            <a:pathLst>
              <a:path h="4114800" w="4198776">
                <a:moveTo>
                  <a:pt x="0" y="0"/>
                </a:moveTo>
                <a:lnTo>
                  <a:pt x="4198775" y="0"/>
                </a:lnTo>
                <a:lnTo>
                  <a:pt x="4198775"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031629" y="0"/>
            <a:ext cx="4120659" cy="4003907"/>
          </a:xfrm>
          <a:custGeom>
            <a:avLst/>
            <a:gdLst/>
            <a:ahLst/>
            <a:cxnLst/>
            <a:rect r="r" b="b" t="t" l="l"/>
            <a:pathLst>
              <a:path h="4003907" w="4120659">
                <a:moveTo>
                  <a:pt x="4120658" y="0"/>
                </a:moveTo>
                <a:lnTo>
                  <a:pt x="0" y="0"/>
                </a:lnTo>
                <a:lnTo>
                  <a:pt x="0" y="4003907"/>
                </a:lnTo>
                <a:lnTo>
                  <a:pt x="4120658" y="4003907"/>
                </a:lnTo>
                <a:lnTo>
                  <a:pt x="4120658" y="0"/>
                </a:lnTo>
                <a:close/>
              </a:path>
            </a:pathLst>
          </a:custGeom>
          <a:blipFill>
            <a:blip r:embed="rId4"/>
            <a:stretch>
              <a:fillRect l="0" t="0" r="0" b="0"/>
            </a:stretch>
          </a:blipFill>
        </p:spPr>
      </p:sp>
      <p:sp>
        <p:nvSpPr>
          <p:cNvPr name="TextBox 4" id="4"/>
          <p:cNvSpPr txBox="true"/>
          <p:nvPr/>
        </p:nvSpPr>
        <p:spPr>
          <a:xfrm rot="0">
            <a:off x="3026821" y="4305243"/>
            <a:ext cx="12234357" cy="2343264"/>
          </a:xfrm>
          <a:prstGeom prst="rect">
            <a:avLst/>
          </a:prstGeom>
        </p:spPr>
        <p:txBody>
          <a:bodyPr anchor="t" rtlCol="false" tIns="0" lIns="0" bIns="0" rIns="0">
            <a:spAutoFit/>
          </a:bodyPr>
          <a:lstStyle/>
          <a:p>
            <a:pPr algn="l">
              <a:lnSpc>
                <a:spcPts val="16651"/>
              </a:lnSpc>
            </a:pPr>
            <a:r>
              <a:rPr lang="en-US" sz="19823" b="true">
                <a:solidFill>
                  <a:srgbClr val="E91C1C"/>
                </a:solidFill>
                <a:latin typeface="Roboto Bold"/>
                <a:ea typeface="Roboto Bold"/>
                <a:cs typeface="Roboto Bold"/>
                <a:sym typeface="Roboto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DAHVk-V0BUA</dc:identifier>
  <dcterms:modified xsi:type="dcterms:W3CDTF">2011-08-01T06:04:30Z</dcterms:modified>
  <cp:revision>1</cp:revision>
  <dc:title>H1</dc:title>
</cp:coreProperties>
</file>